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Lst>
  <p:sldSz cx="18288000" cy="10287000"/>
  <p:notesSz cx="6858000" cy="9144000"/>
  <p:embeddedFontLst>
    <p:embeddedFont>
      <p:font typeface="Canva Sans" panose="020B0604020202020204" charset="0"/>
      <p:regular r:id="rId29"/>
    </p:embeddedFont>
    <p:embeddedFont>
      <p:font typeface="Canva Sans Bold" panose="020B0604020202020204" charset="0"/>
      <p:regular r:id="rId30"/>
    </p:embeddedFont>
    <p:embeddedFont>
      <p:font typeface="Sarabun" panose="020B0604020202020204" charset="-34"/>
      <p:regular r:id="rId31"/>
    </p:embeddedFont>
    <p:embeddedFont>
      <p:font typeface="Sarabun Bold" panose="020B0604020202020204" charset="-34"/>
      <p:regular r:id="rId32"/>
    </p:embeddedFont>
    <p:embeddedFont>
      <p:font typeface="Sarabun Italics" panose="020B0604020202020204" charset="-34"/>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8" d="100"/>
          <a:sy n="68" d="100"/>
        </p:scale>
        <p:origin x="81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5006265" y="-2345382"/>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txBody>
            <a:bodyPr/>
            <a:lstStyle/>
            <a:p>
              <a:endParaRPr lang="en-ZA"/>
            </a:p>
          </p:txBody>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2700000">
            <a:off x="7138740" y="-3174000"/>
            <a:ext cx="10629179" cy="13177170"/>
            <a:chOff x="0" y="0"/>
            <a:chExt cx="2799455" cy="3470530"/>
          </a:xfrm>
        </p:grpSpPr>
        <p:sp>
          <p:nvSpPr>
            <p:cNvPr id="6" name="Freeform 6"/>
            <p:cNvSpPr/>
            <p:nvPr/>
          </p:nvSpPr>
          <p:spPr>
            <a:xfrm>
              <a:off x="0" y="0"/>
              <a:ext cx="2799455" cy="3470530"/>
            </a:xfrm>
            <a:custGeom>
              <a:avLst/>
              <a:gdLst/>
              <a:ahLst/>
              <a:cxnLst/>
              <a:rect l="l" t="t" r="r" b="b"/>
              <a:pathLst>
                <a:path w="2799455" h="3470530">
                  <a:moveTo>
                    <a:pt x="37147" y="0"/>
                  </a:moveTo>
                  <a:lnTo>
                    <a:pt x="2762308" y="0"/>
                  </a:lnTo>
                  <a:cubicBezTo>
                    <a:pt x="2782824" y="0"/>
                    <a:pt x="2799455" y="16631"/>
                    <a:pt x="2799455" y="37147"/>
                  </a:cubicBezTo>
                  <a:lnTo>
                    <a:pt x="2799455" y="3433384"/>
                  </a:lnTo>
                  <a:cubicBezTo>
                    <a:pt x="2799455" y="3443236"/>
                    <a:pt x="2795541" y="3452684"/>
                    <a:pt x="2788575" y="3459650"/>
                  </a:cubicBezTo>
                  <a:cubicBezTo>
                    <a:pt x="2781608" y="3466617"/>
                    <a:pt x="2772160" y="3470530"/>
                    <a:pt x="2762308" y="3470530"/>
                  </a:cubicBezTo>
                  <a:lnTo>
                    <a:pt x="37147" y="3470530"/>
                  </a:lnTo>
                  <a:cubicBezTo>
                    <a:pt x="27295" y="3470530"/>
                    <a:pt x="17846" y="3466617"/>
                    <a:pt x="10880" y="3459650"/>
                  </a:cubicBezTo>
                  <a:cubicBezTo>
                    <a:pt x="3914" y="3452684"/>
                    <a:pt x="0" y="3443236"/>
                    <a:pt x="0" y="3433384"/>
                  </a:cubicBezTo>
                  <a:lnTo>
                    <a:pt x="0" y="37147"/>
                  </a:lnTo>
                  <a:cubicBezTo>
                    <a:pt x="0" y="27295"/>
                    <a:pt x="3914" y="17846"/>
                    <a:pt x="10880" y="10880"/>
                  </a:cubicBezTo>
                  <a:cubicBezTo>
                    <a:pt x="17846" y="3914"/>
                    <a:pt x="27295" y="0"/>
                    <a:pt x="37147" y="0"/>
                  </a:cubicBezTo>
                  <a:close/>
                </a:path>
              </a:pathLst>
            </a:custGeom>
            <a:solidFill>
              <a:srgbClr val="002566"/>
            </a:solidFill>
          </p:spPr>
          <p:txBody>
            <a:bodyPr/>
            <a:lstStyle/>
            <a:p>
              <a:endParaRPr lang="en-ZA"/>
            </a:p>
          </p:txBody>
        </p:sp>
        <p:sp>
          <p:nvSpPr>
            <p:cNvPr id="7" name="TextBox 7"/>
            <p:cNvSpPr txBox="1"/>
            <p:nvPr/>
          </p:nvSpPr>
          <p:spPr>
            <a:xfrm>
              <a:off x="0" y="-28575"/>
              <a:ext cx="2799455" cy="349910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700000">
            <a:off x="-6160823" y="1274181"/>
            <a:ext cx="10629179" cy="11637912"/>
            <a:chOff x="0" y="0"/>
            <a:chExt cx="2799455" cy="3065129"/>
          </a:xfrm>
        </p:grpSpPr>
        <p:sp>
          <p:nvSpPr>
            <p:cNvPr id="9" name="Freeform 9"/>
            <p:cNvSpPr/>
            <p:nvPr/>
          </p:nvSpPr>
          <p:spPr>
            <a:xfrm>
              <a:off x="0" y="0"/>
              <a:ext cx="2799455" cy="3065129"/>
            </a:xfrm>
            <a:custGeom>
              <a:avLst/>
              <a:gdLst/>
              <a:ahLst/>
              <a:cxnLst/>
              <a:rect l="l" t="t" r="r" b="b"/>
              <a:pathLst>
                <a:path w="2799455" h="3065129">
                  <a:moveTo>
                    <a:pt x="37147" y="0"/>
                  </a:moveTo>
                  <a:lnTo>
                    <a:pt x="2762308" y="0"/>
                  </a:lnTo>
                  <a:cubicBezTo>
                    <a:pt x="2782824" y="0"/>
                    <a:pt x="2799455" y="16631"/>
                    <a:pt x="2799455" y="37147"/>
                  </a:cubicBezTo>
                  <a:lnTo>
                    <a:pt x="2799455" y="3027983"/>
                  </a:lnTo>
                  <a:cubicBezTo>
                    <a:pt x="2799455" y="3037835"/>
                    <a:pt x="2795541" y="3047283"/>
                    <a:pt x="2788575" y="3054249"/>
                  </a:cubicBezTo>
                  <a:cubicBezTo>
                    <a:pt x="2781608" y="3061215"/>
                    <a:pt x="2772160" y="3065129"/>
                    <a:pt x="2762308" y="3065129"/>
                  </a:cubicBezTo>
                  <a:lnTo>
                    <a:pt x="37147" y="3065129"/>
                  </a:lnTo>
                  <a:cubicBezTo>
                    <a:pt x="27295" y="3065129"/>
                    <a:pt x="17846" y="3061215"/>
                    <a:pt x="10880" y="3054249"/>
                  </a:cubicBezTo>
                  <a:cubicBezTo>
                    <a:pt x="3914" y="3047283"/>
                    <a:pt x="0" y="3037835"/>
                    <a:pt x="0" y="3027983"/>
                  </a:cubicBezTo>
                  <a:lnTo>
                    <a:pt x="0" y="37147"/>
                  </a:lnTo>
                  <a:cubicBezTo>
                    <a:pt x="0" y="27295"/>
                    <a:pt x="3914" y="17846"/>
                    <a:pt x="10880" y="10880"/>
                  </a:cubicBezTo>
                  <a:cubicBezTo>
                    <a:pt x="17846" y="3914"/>
                    <a:pt x="27295" y="0"/>
                    <a:pt x="37147" y="0"/>
                  </a:cubicBezTo>
                  <a:close/>
                </a:path>
              </a:pathLst>
            </a:custGeom>
            <a:solidFill>
              <a:srgbClr val="002566"/>
            </a:solidFill>
          </p:spPr>
          <p:txBody>
            <a:bodyPr/>
            <a:lstStyle/>
            <a:p>
              <a:endParaRPr lang="en-ZA"/>
            </a:p>
          </p:txBody>
        </p:sp>
        <p:sp>
          <p:nvSpPr>
            <p:cNvPr id="10" name="TextBox 10"/>
            <p:cNvSpPr txBox="1"/>
            <p:nvPr/>
          </p:nvSpPr>
          <p:spPr>
            <a:xfrm>
              <a:off x="0" y="-28575"/>
              <a:ext cx="2799455" cy="309370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8069054" y="-1803305"/>
            <a:ext cx="11565964" cy="1156596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002566"/>
            </a:solidFill>
            <a:ln w="9525" cap="sq">
              <a:solidFill>
                <a:srgbClr val="FFFFFF"/>
              </a:solidFill>
              <a:prstDash val="solid"/>
              <a:miter/>
            </a:ln>
          </p:spPr>
          <p:txBody>
            <a:bodyPr/>
            <a:lstStyle/>
            <a:p>
              <a:endParaRPr lang="en-ZA"/>
            </a:p>
          </p:txBody>
        </p:sp>
      </p:grpSp>
      <p:grpSp>
        <p:nvGrpSpPr>
          <p:cNvPr id="13" name="Group 13"/>
          <p:cNvGrpSpPr/>
          <p:nvPr/>
        </p:nvGrpSpPr>
        <p:grpSpPr>
          <a:xfrm>
            <a:off x="-4517835" y="1471899"/>
            <a:ext cx="7343202" cy="734320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002566"/>
            </a:solidFill>
            <a:ln w="9525" cap="sq">
              <a:solidFill>
                <a:srgbClr val="FFFFFF"/>
              </a:solidFill>
              <a:prstDash val="solid"/>
              <a:miter/>
            </a:ln>
          </p:spPr>
          <p:txBody>
            <a:bodyPr/>
            <a:lstStyle/>
            <a:p>
              <a:endParaRPr lang="en-ZA"/>
            </a:p>
          </p:txBody>
        </p:sp>
      </p:grpSp>
      <p:grpSp>
        <p:nvGrpSpPr>
          <p:cNvPr id="15" name="Group 15"/>
          <p:cNvGrpSpPr/>
          <p:nvPr/>
        </p:nvGrpSpPr>
        <p:grpSpPr>
          <a:xfrm>
            <a:off x="-4173191" y="3421536"/>
            <a:ext cx="7343202" cy="734320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002566"/>
            </a:solidFill>
            <a:ln w="9525" cap="sq">
              <a:solidFill>
                <a:srgbClr val="FFFFFF"/>
              </a:solidFill>
              <a:prstDash val="solid"/>
              <a:miter/>
            </a:ln>
          </p:spPr>
          <p:txBody>
            <a:bodyPr/>
            <a:lstStyle/>
            <a:p>
              <a:endParaRPr lang="en-ZA"/>
            </a:p>
          </p:txBody>
        </p:sp>
      </p:grpSp>
      <p:sp>
        <p:nvSpPr>
          <p:cNvPr id="17" name="AutoShape 17"/>
          <p:cNvSpPr/>
          <p:nvPr/>
        </p:nvSpPr>
        <p:spPr>
          <a:xfrm flipV="1">
            <a:off x="1269799" y="8288375"/>
            <a:ext cx="3950727" cy="0"/>
          </a:xfrm>
          <a:prstGeom prst="line">
            <a:avLst/>
          </a:prstGeom>
          <a:ln w="38100" cap="flat">
            <a:solidFill>
              <a:srgbClr val="FFFFFF"/>
            </a:solidFill>
            <a:prstDash val="solid"/>
            <a:headEnd type="none" w="sm" len="sm"/>
            <a:tailEnd type="none" w="sm" len="sm"/>
          </a:ln>
        </p:spPr>
        <p:txBody>
          <a:bodyPr/>
          <a:lstStyle/>
          <a:p>
            <a:endParaRPr lang="en-ZA"/>
          </a:p>
        </p:txBody>
      </p:sp>
      <p:sp>
        <p:nvSpPr>
          <p:cNvPr id="18" name="Freeform 18"/>
          <p:cNvSpPr/>
          <p:nvPr/>
        </p:nvSpPr>
        <p:spPr>
          <a:xfrm>
            <a:off x="0" y="-266700"/>
            <a:ext cx="6681602" cy="6681602"/>
          </a:xfrm>
          <a:custGeom>
            <a:avLst/>
            <a:gdLst/>
            <a:ahLst/>
            <a:cxnLst/>
            <a:rect l="l" t="t" r="r" b="b"/>
            <a:pathLst>
              <a:path w="6681602" h="6681602">
                <a:moveTo>
                  <a:pt x="0" y="0"/>
                </a:moveTo>
                <a:lnTo>
                  <a:pt x="6681602" y="0"/>
                </a:lnTo>
                <a:lnTo>
                  <a:pt x="6681602" y="6681602"/>
                </a:lnTo>
                <a:lnTo>
                  <a:pt x="0" y="6681602"/>
                </a:lnTo>
                <a:lnTo>
                  <a:pt x="0" y="0"/>
                </a:lnTo>
                <a:close/>
              </a:path>
            </a:pathLst>
          </a:custGeom>
          <a:blipFill>
            <a:blip r:embed="rId2"/>
            <a:stretch>
              <a:fillRect/>
            </a:stretch>
          </a:blipFill>
        </p:spPr>
        <p:txBody>
          <a:bodyPr/>
          <a:lstStyle/>
          <a:p>
            <a:endParaRPr lang="en-ZA"/>
          </a:p>
        </p:txBody>
      </p:sp>
      <p:sp>
        <p:nvSpPr>
          <p:cNvPr id="19" name="TextBox 19"/>
          <p:cNvSpPr txBox="1"/>
          <p:nvPr/>
        </p:nvSpPr>
        <p:spPr>
          <a:xfrm>
            <a:off x="8069054" y="2477902"/>
            <a:ext cx="11892133" cy="3241676"/>
          </a:xfrm>
          <a:prstGeom prst="rect">
            <a:avLst/>
          </a:prstGeom>
        </p:spPr>
        <p:txBody>
          <a:bodyPr lIns="0" tIns="0" rIns="0" bIns="0" rtlCol="0" anchor="t">
            <a:spAutoFit/>
          </a:bodyPr>
          <a:lstStyle/>
          <a:p>
            <a:pPr algn="ctr">
              <a:lnSpc>
                <a:spcPts val="12500"/>
              </a:lnSpc>
            </a:pPr>
            <a:r>
              <a:rPr lang="en-US" sz="12500" b="1">
                <a:solidFill>
                  <a:srgbClr val="FFFFFF"/>
                </a:solidFill>
                <a:latin typeface="Sarabun Bold"/>
                <a:ea typeface="Sarabun Bold"/>
                <a:cs typeface="Sarabun Bold"/>
                <a:sym typeface="Sarabun Bold"/>
              </a:rPr>
              <a:t>COS214 PROJECT</a:t>
            </a:r>
          </a:p>
        </p:txBody>
      </p:sp>
      <p:sp>
        <p:nvSpPr>
          <p:cNvPr id="20" name="TextBox 20"/>
          <p:cNvSpPr txBox="1"/>
          <p:nvPr/>
        </p:nvSpPr>
        <p:spPr>
          <a:xfrm>
            <a:off x="10990979" y="5757678"/>
            <a:ext cx="5722116" cy="523246"/>
          </a:xfrm>
          <a:prstGeom prst="rect">
            <a:avLst/>
          </a:prstGeom>
        </p:spPr>
        <p:txBody>
          <a:bodyPr lIns="0" tIns="0" rIns="0" bIns="0" rtlCol="0" anchor="t">
            <a:spAutoFit/>
          </a:bodyPr>
          <a:lstStyle/>
          <a:p>
            <a:pPr algn="r">
              <a:lnSpc>
                <a:spcPts val="4070"/>
              </a:lnSpc>
            </a:pPr>
            <a:r>
              <a:rPr lang="en-US" sz="3700" i="1">
                <a:solidFill>
                  <a:srgbClr val="FFFFFF"/>
                </a:solidFill>
                <a:latin typeface="Sarabun Italics"/>
                <a:ea typeface="Sarabun Italics"/>
                <a:cs typeface="Sarabun Italics"/>
                <a:sym typeface="Sarabun Italics"/>
              </a:rPr>
              <a:t>The Seven Deadly Syntaxers</a:t>
            </a:r>
          </a:p>
        </p:txBody>
      </p:sp>
      <p:sp>
        <p:nvSpPr>
          <p:cNvPr id="21" name="TextBox 21"/>
          <p:cNvSpPr txBox="1"/>
          <p:nvPr/>
        </p:nvSpPr>
        <p:spPr>
          <a:xfrm>
            <a:off x="-501590" y="7482515"/>
            <a:ext cx="5722116" cy="523246"/>
          </a:xfrm>
          <a:prstGeom prst="rect">
            <a:avLst/>
          </a:prstGeom>
        </p:spPr>
        <p:txBody>
          <a:bodyPr lIns="0" tIns="0" rIns="0" bIns="0" rtlCol="0" anchor="t">
            <a:spAutoFit/>
          </a:bodyPr>
          <a:lstStyle/>
          <a:p>
            <a:pPr algn="r">
              <a:lnSpc>
                <a:spcPts val="4070"/>
              </a:lnSpc>
            </a:pPr>
            <a:r>
              <a:rPr lang="en-US" sz="3700" i="1">
                <a:solidFill>
                  <a:srgbClr val="FFFFFF"/>
                </a:solidFill>
                <a:latin typeface="Sarabun Italics"/>
                <a:ea typeface="Sarabun Italics"/>
                <a:cs typeface="Sarabun Italics"/>
                <a:sym typeface="Sarabun Italics"/>
              </a:rPr>
              <a:t>University of Pretoria</a:t>
            </a:r>
          </a:p>
        </p:txBody>
      </p:sp>
      <p:sp>
        <p:nvSpPr>
          <p:cNvPr id="22" name="TextBox 22"/>
          <p:cNvSpPr txBox="1"/>
          <p:nvPr/>
        </p:nvSpPr>
        <p:spPr>
          <a:xfrm>
            <a:off x="0" y="6633977"/>
            <a:ext cx="6681602" cy="422275"/>
          </a:xfrm>
          <a:prstGeom prst="rect">
            <a:avLst/>
          </a:prstGeom>
        </p:spPr>
        <p:txBody>
          <a:bodyPr lIns="0" tIns="0" rIns="0" bIns="0" rtlCol="0" anchor="t">
            <a:spAutoFit/>
          </a:bodyPr>
          <a:lstStyle/>
          <a:p>
            <a:pPr algn="ctr">
              <a:lnSpc>
                <a:spcPts val="3499"/>
              </a:lnSpc>
              <a:spcBef>
                <a:spcPct val="0"/>
              </a:spcBef>
            </a:pPr>
            <a:r>
              <a:rPr lang="en-US" sz="2499">
                <a:solidFill>
                  <a:srgbClr val="FFFFFF"/>
                </a:solidFill>
                <a:latin typeface="Sarabun"/>
                <a:ea typeface="Sarabun"/>
                <a:cs typeface="Sarabun"/>
                <a:sym typeface="Sarabun"/>
              </a:rPr>
              <a:t>https://github.com/elme21/COS-214-Prac-6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4773722" y="-318627"/>
            <a:ext cx="7048777" cy="8982563"/>
            <a:chOff x="0" y="0"/>
            <a:chExt cx="1856468" cy="2365778"/>
          </a:xfrm>
        </p:grpSpPr>
        <p:sp>
          <p:nvSpPr>
            <p:cNvPr id="3" name="Freeform 3"/>
            <p:cNvSpPr/>
            <p:nvPr/>
          </p:nvSpPr>
          <p:spPr>
            <a:xfrm>
              <a:off x="0" y="0"/>
              <a:ext cx="1856468" cy="2365778"/>
            </a:xfrm>
            <a:custGeom>
              <a:avLst/>
              <a:gdLst/>
              <a:ahLst/>
              <a:cxnLst/>
              <a:rect l="l" t="t" r="r" b="b"/>
              <a:pathLst>
                <a:path w="1856468" h="2365778">
                  <a:moveTo>
                    <a:pt x="56015" y="0"/>
                  </a:moveTo>
                  <a:lnTo>
                    <a:pt x="1800453" y="0"/>
                  </a:lnTo>
                  <a:cubicBezTo>
                    <a:pt x="1815309" y="0"/>
                    <a:pt x="1829557" y="5902"/>
                    <a:pt x="1840062" y="16406"/>
                  </a:cubicBezTo>
                  <a:cubicBezTo>
                    <a:pt x="1850566" y="26911"/>
                    <a:pt x="1856468" y="41159"/>
                    <a:pt x="1856468" y="56015"/>
                  </a:cubicBezTo>
                  <a:lnTo>
                    <a:pt x="1856468" y="2309763"/>
                  </a:lnTo>
                  <a:cubicBezTo>
                    <a:pt x="1856468" y="2340699"/>
                    <a:pt x="1831389" y="2365778"/>
                    <a:pt x="1800453" y="2365778"/>
                  </a:cubicBezTo>
                  <a:lnTo>
                    <a:pt x="56015" y="2365778"/>
                  </a:lnTo>
                  <a:cubicBezTo>
                    <a:pt x="41159" y="2365778"/>
                    <a:pt x="26911" y="2359876"/>
                    <a:pt x="16406" y="2349372"/>
                  </a:cubicBezTo>
                  <a:cubicBezTo>
                    <a:pt x="5902" y="2338867"/>
                    <a:pt x="0" y="2324619"/>
                    <a:pt x="0" y="2309763"/>
                  </a:cubicBezTo>
                  <a:lnTo>
                    <a:pt x="0" y="56015"/>
                  </a:lnTo>
                  <a:cubicBezTo>
                    <a:pt x="0" y="41159"/>
                    <a:pt x="5902" y="26911"/>
                    <a:pt x="16406" y="16406"/>
                  </a:cubicBezTo>
                  <a:cubicBezTo>
                    <a:pt x="26911" y="5902"/>
                    <a:pt x="41159" y="0"/>
                    <a:pt x="56015" y="0"/>
                  </a:cubicBezTo>
                  <a:close/>
                </a:path>
              </a:pathLst>
            </a:custGeom>
            <a:solidFill>
              <a:srgbClr val="002566"/>
            </a:solidFill>
          </p:spPr>
          <p:txBody>
            <a:bodyPr/>
            <a:lstStyle/>
            <a:p>
              <a:endParaRPr lang="en-ZA"/>
            </a:p>
          </p:txBody>
        </p:sp>
        <p:sp>
          <p:nvSpPr>
            <p:cNvPr id="4" name="TextBox 4"/>
            <p:cNvSpPr txBox="1"/>
            <p:nvPr/>
          </p:nvSpPr>
          <p:spPr>
            <a:xfrm>
              <a:off x="0" y="-28575"/>
              <a:ext cx="1856468" cy="239435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5022536" y="-1797506"/>
            <a:ext cx="13306602" cy="15883501"/>
            <a:chOff x="0" y="0"/>
            <a:chExt cx="3504619" cy="4183309"/>
          </a:xfrm>
        </p:grpSpPr>
        <p:sp>
          <p:nvSpPr>
            <p:cNvPr id="6" name="Freeform 6"/>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alpha val="15686"/>
              </a:srgbClr>
            </a:solidFill>
          </p:spPr>
          <p:txBody>
            <a:bodyPr/>
            <a:lstStyle/>
            <a:p>
              <a:endParaRPr lang="en-ZA"/>
            </a:p>
          </p:txBody>
        </p:sp>
        <p:sp>
          <p:nvSpPr>
            <p:cNvPr id="7" name="TextBox 7"/>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1693811">
            <a:off x="5365561" y="-2467286"/>
            <a:ext cx="13306602" cy="15883501"/>
            <a:chOff x="0" y="0"/>
            <a:chExt cx="3504619" cy="4183309"/>
          </a:xfrm>
        </p:grpSpPr>
        <p:sp>
          <p:nvSpPr>
            <p:cNvPr id="9" name="Freeform 9"/>
            <p:cNvSpPr/>
            <p:nvPr/>
          </p:nvSpPr>
          <p:spPr>
            <a:xfrm>
              <a:off x="0" y="0"/>
              <a:ext cx="3504619" cy="4183309"/>
            </a:xfrm>
            <a:custGeom>
              <a:avLst/>
              <a:gdLst/>
              <a:ahLst/>
              <a:cxnLst/>
              <a:rect l="l" t="t" r="r" b="b"/>
              <a:pathLst>
                <a:path w="3504619" h="4183309">
                  <a:moveTo>
                    <a:pt x="29672" y="0"/>
                  </a:moveTo>
                  <a:lnTo>
                    <a:pt x="3474947" y="0"/>
                  </a:lnTo>
                  <a:cubicBezTo>
                    <a:pt x="3482817" y="0"/>
                    <a:pt x="3490364" y="3126"/>
                    <a:pt x="3495928" y="8691"/>
                  </a:cubicBezTo>
                  <a:cubicBezTo>
                    <a:pt x="3501493" y="14255"/>
                    <a:pt x="3504619" y="21803"/>
                    <a:pt x="3504619" y="29672"/>
                  </a:cubicBezTo>
                  <a:lnTo>
                    <a:pt x="3504619" y="4153637"/>
                  </a:lnTo>
                  <a:cubicBezTo>
                    <a:pt x="3504619" y="4170024"/>
                    <a:pt x="3491335" y="4183309"/>
                    <a:pt x="3474947" y="4183309"/>
                  </a:cubicBezTo>
                  <a:lnTo>
                    <a:pt x="29672" y="4183309"/>
                  </a:lnTo>
                  <a:cubicBezTo>
                    <a:pt x="21803" y="4183309"/>
                    <a:pt x="14255" y="4180183"/>
                    <a:pt x="8691" y="4174618"/>
                  </a:cubicBezTo>
                  <a:cubicBezTo>
                    <a:pt x="3126" y="4169054"/>
                    <a:pt x="0" y="4161506"/>
                    <a:pt x="0" y="4153637"/>
                  </a:cubicBezTo>
                  <a:lnTo>
                    <a:pt x="0" y="29672"/>
                  </a:lnTo>
                  <a:cubicBezTo>
                    <a:pt x="0" y="21803"/>
                    <a:pt x="3126" y="14255"/>
                    <a:pt x="8691" y="8691"/>
                  </a:cubicBezTo>
                  <a:cubicBezTo>
                    <a:pt x="14255" y="3126"/>
                    <a:pt x="21803" y="0"/>
                    <a:pt x="29672" y="0"/>
                  </a:cubicBezTo>
                  <a:close/>
                </a:path>
              </a:pathLst>
            </a:custGeom>
            <a:solidFill>
              <a:srgbClr val="002566"/>
            </a:solidFill>
          </p:spPr>
          <p:txBody>
            <a:bodyPr/>
            <a:lstStyle/>
            <a:p>
              <a:endParaRPr lang="en-ZA"/>
            </a:p>
          </p:txBody>
        </p:sp>
        <p:sp>
          <p:nvSpPr>
            <p:cNvPr id="10" name="TextBox 10"/>
            <p:cNvSpPr txBox="1"/>
            <p:nvPr/>
          </p:nvSpPr>
          <p:spPr>
            <a:xfrm>
              <a:off x="0" y="-28575"/>
              <a:ext cx="3504619" cy="4211884"/>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6665930" y="1114425"/>
            <a:ext cx="9666871" cy="1109771"/>
          </a:xfrm>
          <a:prstGeom prst="rect">
            <a:avLst/>
          </a:prstGeom>
        </p:spPr>
        <p:txBody>
          <a:bodyPr lIns="0" tIns="0" rIns="0" bIns="0" rtlCol="0" anchor="t">
            <a:spAutoFit/>
          </a:bodyPr>
          <a:lstStyle/>
          <a:p>
            <a:pPr algn="l">
              <a:lnSpc>
                <a:spcPts val="8695"/>
              </a:lnSpc>
            </a:pPr>
            <a:r>
              <a:rPr lang="en-US" sz="7904" b="1">
                <a:solidFill>
                  <a:srgbClr val="FFFFFF"/>
                </a:solidFill>
                <a:latin typeface="Sarabun Bold"/>
                <a:ea typeface="Sarabun Bold"/>
                <a:cs typeface="Sarabun Bold"/>
                <a:sym typeface="Sarabun Bold"/>
              </a:rPr>
              <a:t>CONTENT</a:t>
            </a:r>
          </a:p>
        </p:txBody>
      </p:sp>
      <p:sp>
        <p:nvSpPr>
          <p:cNvPr id="12" name="TextBox 12"/>
          <p:cNvSpPr txBox="1"/>
          <p:nvPr/>
        </p:nvSpPr>
        <p:spPr>
          <a:xfrm>
            <a:off x="6489458" y="2471372"/>
            <a:ext cx="10019814" cy="4620217"/>
          </a:xfrm>
          <a:prstGeom prst="rect">
            <a:avLst/>
          </a:prstGeom>
        </p:spPr>
        <p:txBody>
          <a:bodyPr lIns="0" tIns="0" rIns="0" bIns="0" rtlCol="0" anchor="t">
            <a:spAutoFit/>
          </a:bodyPr>
          <a:lstStyle/>
          <a:p>
            <a:pPr marL="657765" lvl="1" indent="-328883" algn="l">
              <a:lnSpc>
                <a:spcPts val="3351"/>
              </a:lnSpc>
              <a:buFont typeface="Arial"/>
              <a:buChar char="•"/>
            </a:pPr>
            <a:r>
              <a:rPr lang="en-US" sz="3046">
                <a:solidFill>
                  <a:srgbClr val="FFFFFF"/>
                </a:solidFill>
                <a:latin typeface="Sarabun"/>
                <a:ea typeface="Sarabun"/>
                <a:cs typeface="Sarabun"/>
                <a:sym typeface="Sarabun"/>
              </a:rPr>
              <a:t>System Overview</a:t>
            </a:r>
          </a:p>
          <a:p>
            <a:pPr marL="657765" lvl="1" indent="-328883" algn="l">
              <a:lnSpc>
                <a:spcPts val="3351"/>
              </a:lnSpc>
              <a:buFont typeface="Arial"/>
              <a:buChar char="•"/>
            </a:pPr>
            <a:r>
              <a:rPr lang="en-US" sz="3046">
                <a:solidFill>
                  <a:srgbClr val="FFFFFF"/>
                </a:solidFill>
                <a:latin typeface="Sarabun"/>
                <a:ea typeface="Sarabun"/>
                <a:cs typeface="Sarabun"/>
                <a:sym typeface="Sarabun"/>
              </a:rPr>
              <a:t>Workflow Execution</a:t>
            </a:r>
          </a:p>
          <a:p>
            <a:pPr marL="657765" lvl="1" indent="-328883" algn="l">
              <a:lnSpc>
                <a:spcPts val="3351"/>
              </a:lnSpc>
              <a:buFont typeface="Arial"/>
              <a:buChar char="•"/>
            </a:pPr>
            <a:r>
              <a:rPr lang="en-US" sz="3046">
                <a:solidFill>
                  <a:srgbClr val="FFFFFF"/>
                </a:solidFill>
                <a:latin typeface="Sarabun"/>
                <a:ea typeface="Sarabun"/>
                <a:cs typeface="Sarabun"/>
                <a:sym typeface="Sarabun"/>
              </a:rPr>
              <a:t>Sequence Diagrams</a:t>
            </a:r>
          </a:p>
          <a:p>
            <a:pPr marL="657765" lvl="1" indent="-328883" algn="l">
              <a:lnSpc>
                <a:spcPts val="3351"/>
              </a:lnSpc>
              <a:buFont typeface="Arial"/>
              <a:buChar char="•"/>
            </a:pPr>
            <a:r>
              <a:rPr lang="en-US" sz="3046">
                <a:solidFill>
                  <a:srgbClr val="FFFFFF"/>
                </a:solidFill>
                <a:latin typeface="Sarabun"/>
                <a:ea typeface="Sarabun"/>
                <a:cs typeface="Sarabun"/>
                <a:sym typeface="Sarabun"/>
              </a:rPr>
              <a:t>Class Diagram</a:t>
            </a:r>
          </a:p>
          <a:p>
            <a:pPr marL="657765" lvl="1" indent="-328883" algn="l">
              <a:lnSpc>
                <a:spcPts val="3351"/>
              </a:lnSpc>
              <a:buFont typeface="Arial"/>
              <a:buChar char="•"/>
            </a:pPr>
            <a:r>
              <a:rPr lang="en-US" sz="3046">
                <a:solidFill>
                  <a:srgbClr val="FFFFFF"/>
                </a:solidFill>
                <a:latin typeface="Sarabun"/>
                <a:ea typeface="Sarabun"/>
                <a:cs typeface="Sarabun"/>
                <a:sym typeface="Sarabun"/>
              </a:rPr>
              <a:t>Design Patterns</a:t>
            </a:r>
          </a:p>
          <a:p>
            <a:pPr marL="657765" lvl="1" indent="-328883" algn="l">
              <a:lnSpc>
                <a:spcPts val="3351"/>
              </a:lnSpc>
              <a:buFont typeface="Arial"/>
              <a:buChar char="•"/>
            </a:pPr>
            <a:r>
              <a:rPr lang="en-US" sz="3046">
                <a:solidFill>
                  <a:srgbClr val="FFFFFF"/>
                </a:solidFill>
                <a:latin typeface="Sarabun"/>
                <a:ea typeface="Sarabun"/>
                <a:cs typeface="Sarabun"/>
                <a:sym typeface="Sarabun"/>
              </a:rPr>
              <a:t>Frontend</a:t>
            </a:r>
          </a:p>
          <a:p>
            <a:pPr marL="657765" lvl="1" indent="-328883" algn="l">
              <a:lnSpc>
                <a:spcPts val="3351"/>
              </a:lnSpc>
              <a:buFont typeface="Arial"/>
              <a:buChar char="•"/>
            </a:pPr>
            <a:r>
              <a:rPr lang="en-US" sz="3046">
                <a:solidFill>
                  <a:srgbClr val="FFFFFF"/>
                </a:solidFill>
                <a:latin typeface="Sarabun"/>
                <a:ea typeface="Sarabun"/>
                <a:cs typeface="Sarabun"/>
                <a:sym typeface="Sarabun"/>
              </a:rPr>
              <a:t>Live Demo</a:t>
            </a:r>
          </a:p>
          <a:p>
            <a:pPr marL="657765" lvl="1" indent="-328883" algn="l">
              <a:lnSpc>
                <a:spcPts val="3351"/>
              </a:lnSpc>
              <a:buFont typeface="Arial"/>
              <a:buChar char="•"/>
            </a:pPr>
            <a:r>
              <a:rPr lang="en-US" sz="3046">
                <a:solidFill>
                  <a:srgbClr val="FFFFFF"/>
                </a:solidFill>
                <a:latin typeface="Sarabun"/>
                <a:ea typeface="Sarabun"/>
                <a:cs typeface="Sarabun"/>
                <a:sym typeface="Sarabun"/>
              </a:rPr>
              <a:t>Testing</a:t>
            </a:r>
          </a:p>
          <a:p>
            <a:pPr marL="657765" lvl="1" indent="-328883" algn="l">
              <a:lnSpc>
                <a:spcPts val="3351"/>
              </a:lnSpc>
              <a:buFont typeface="Arial"/>
              <a:buChar char="•"/>
            </a:pPr>
            <a:r>
              <a:rPr lang="en-US" sz="3046">
                <a:solidFill>
                  <a:srgbClr val="FFFFFF"/>
                </a:solidFill>
                <a:latin typeface="Sarabun"/>
                <a:ea typeface="Sarabun"/>
                <a:cs typeface="Sarabun"/>
                <a:sym typeface="Sarabun"/>
              </a:rPr>
              <a:t>Github</a:t>
            </a:r>
          </a:p>
          <a:p>
            <a:pPr marL="657765" lvl="1" indent="-328883" algn="l">
              <a:lnSpc>
                <a:spcPts val="3351"/>
              </a:lnSpc>
              <a:buFont typeface="Arial"/>
              <a:buChar char="•"/>
            </a:pPr>
            <a:r>
              <a:rPr lang="en-US" sz="3046">
                <a:solidFill>
                  <a:srgbClr val="FFFFFF"/>
                </a:solidFill>
                <a:latin typeface="Sarabun"/>
                <a:ea typeface="Sarabun"/>
                <a:cs typeface="Sarabun"/>
                <a:sym typeface="Sarabun"/>
              </a:rPr>
              <a:t>Docker</a:t>
            </a:r>
          </a:p>
          <a:p>
            <a:pPr algn="l">
              <a:lnSpc>
                <a:spcPts val="3351"/>
              </a:lnSpc>
            </a:pPr>
            <a:endParaRPr lang="en-US" sz="3046">
              <a:solidFill>
                <a:srgbClr val="FFFFFF"/>
              </a:solidFill>
              <a:latin typeface="Sarabun"/>
              <a:ea typeface="Sarabun"/>
              <a:cs typeface="Sarabun"/>
              <a:sym typeface="Sarabu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667542" y="-204094"/>
            <a:ext cx="7221357" cy="11174670"/>
            <a:chOff x="0" y="0"/>
            <a:chExt cx="1901921" cy="2943123"/>
          </a:xfrm>
        </p:grpSpPr>
        <p:sp>
          <p:nvSpPr>
            <p:cNvPr id="3" name="Freeform 3"/>
            <p:cNvSpPr/>
            <p:nvPr/>
          </p:nvSpPr>
          <p:spPr>
            <a:xfrm>
              <a:off x="0" y="0"/>
              <a:ext cx="1901921" cy="2943123"/>
            </a:xfrm>
            <a:custGeom>
              <a:avLst/>
              <a:gdLst/>
              <a:ahLst/>
              <a:cxnLst/>
              <a:rect l="l" t="t" r="r" b="b"/>
              <a:pathLst>
                <a:path w="1901921" h="2943123">
                  <a:moveTo>
                    <a:pt x="54676" y="0"/>
                  </a:moveTo>
                  <a:lnTo>
                    <a:pt x="1847245" y="0"/>
                  </a:lnTo>
                  <a:cubicBezTo>
                    <a:pt x="1861746" y="0"/>
                    <a:pt x="1875653" y="5761"/>
                    <a:pt x="1885907" y="16014"/>
                  </a:cubicBezTo>
                  <a:cubicBezTo>
                    <a:pt x="1896161" y="26268"/>
                    <a:pt x="1901921" y="40175"/>
                    <a:pt x="1901921" y="54676"/>
                  </a:cubicBezTo>
                  <a:lnTo>
                    <a:pt x="1901921" y="2888447"/>
                  </a:lnTo>
                  <a:cubicBezTo>
                    <a:pt x="1901921" y="2902948"/>
                    <a:pt x="1896161" y="2916855"/>
                    <a:pt x="1885907" y="2927109"/>
                  </a:cubicBezTo>
                  <a:cubicBezTo>
                    <a:pt x="1875653" y="2937363"/>
                    <a:pt x="1861746" y="2943123"/>
                    <a:pt x="1847245" y="2943123"/>
                  </a:cubicBezTo>
                  <a:lnTo>
                    <a:pt x="54676" y="2943123"/>
                  </a:lnTo>
                  <a:cubicBezTo>
                    <a:pt x="40175" y="2943123"/>
                    <a:pt x="26268" y="2937363"/>
                    <a:pt x="16014" y="2927109"/>
                  </a:cubicBezTo>
                  <a:cubicBezTo>
                    <a:pt x="5761" y="2916855"/>
                    <a:pt x="0" y="2902948"/>
                    <a:pt x="0" y="2888447"/>
                  </a:cubicBezTo>
                  <a:lnTo>
                    <a:pt x="0" y="54676"/>
                  </a:lnTo>
                  <a:cubicBezTo>
                    <a:pt x="0" y="40175"/>
                    <a:pt x="5761" y="26268"/>
                    <a:pt x="16014" y="16014"/>
                  </a:cubicBezTo>
                  <a:cubicBezTo>
                    <a:pt x="26268" y="5761"/>
                    <a:pt x="40175" y="0"/>
                    <a:pt x="54676" y="0"/>
                  </a:cubicBezTo>
                  <a:close/>
                </a:path>
              </a:pathLst>
            </a:custGeom>
            <a:solidFill>
              <a:srgbClr val="002566"/>
            </a:solidFill>
          </p:spPr>
          <p:txBody>
            <a:bodyPr/>
            <a:lstStyle/>
            <a:p>
              <a:endParaRPr lang="en-ZA"/>
            </a:p>
          </p:txBody>
        </p:sp>
        <p:sp>
          <p:nvSpPr>
            <p:cNvPr id="4" name="TextBox 4"/>
            <p:cNvSpPr txBox="1"/>
            <p:nvPr/>
          </p:nvSpPr>
          <p:spPr>
            <a:xfrm>
              <a:off x="0" y="-28575"/>
              <a:ext cx="1901921" cy="297169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TextBox 6"/>
          <p:cNvSpPr txBox="1"/>
          <p:nvPr/>
        </p:nvSpPr>
        <p:spPr>
          <a:xfrm>
            <a:off x="5833460" y="555546"/>
            <a:ext cx="9605469" cy="951864"/>
          </a:xfrm>
          <a:prstGeom prst="rect">
            <a:avLst/>
          </a:prstGeom>
        </p:spPr>
        <p:txBody>
          <a:bodyPr lIns="0" tIns="0" rIns="0" bIns="0" rtlCol="0" anchor="t">
            <a:spAutoFit/>
          </a:bodyPr>
          <a:lstStyle/>
          <a:p>
            <a:pPr algn="l">
              <a:lnSpc>
                <a:spcPts val="7369"/>
              </a:lnSpc>
            </a:pPr>
            <a:r>
              <a:rPr lang="en-US" sz="6699" b="1">
                <a:solidFill>
                  <a:srgbClr val="002566"/>
                </a:solidFill>
                <a:latin typeface="Sarabun Bold"/>
                <a:ea typeface="Sarabun Bold"/>
                <a:cs typeface="Sarabun Bold"/>
                <a:sym typeface="Sarabun Bold"/>
              </a:rPr>
              <a:t>SYSTEM OVERVIEW </a:t>
            </a:r>
          </a:p>
        </p:txBody>
      </p:sp>
      <p:sp>
        <p:nvSpPr>
          <p:cNvPr id="7" name="TextBox 7"/>
          <p:cNvSpPr txBox="1"/>
          <p:nvPr/>
        </p:nvSpPr>
        <p:spPr>
          <a:xfrm>
            <a:off x="5870072" y="3213620"/>
            <a:ext cx="2238851" cy="1715770"/>
          </a:xfrm>
          <a:prstGeom prst="rect">
            <a:avLst/>
          </a:prstGeom>
        </p:spPr>
        <p:txBody>
          <a:bodyPr lIns="0" tIns="0" rIns="0" bIns="0" rtlCol="0" anchor="t">
            <a:spAutoFit/>
          </a:bodyPr>
          <a:lstStyle/>
          <a:p>
            <a:pPr algn="ctr">
              <a:lnSpc>
                <a:spcPts val="6709"/>
              </a:lnSpc>
            </a:pPr>
            <a:r>
              <a:rPr lang="en-US" sz="6099">
                <a:solidFill>
                  <a:srgbClr val="002566"/>
                </a:solidFill>
                <a:latin typeface="Sarabun"/>
                <a:ea typeface="Sarabun"/>
                <a:cs typeface="Sarabun"/>
                <a:sym typeface="Sarabun"/>
              </a:rPr>
              <a:t>TIVIDY</a:t>
            </a:r>
          </a:p>
          <a:p>
            <a:pPr algn="ctr">
              <a:lnSpc>
                <a:spcPts val="6709"/>
              </a:lnSpc>
              <a:spcBef>
                <a:spcPct val="0"/>
              </a:spcBef>
            </a:pPr>
            <a:endParaRPr lang="en-US" sz="6099">
              <a:solidFill>
                <a:srgbClr val="002566"/>
              </a:solidFill>
              <a:latin typeface="Sarabun"/>
              <a:ea typeface="Sarabun"/>
              <a:cs typeface="Sarabun"/>
              <a:sym typeface="Sarabun"/>
            </a:endParaRPr>
          </a:p>
        </p:txBody>
      </p:sp>
      <p:sp>
        <p:nvSpPr>
          <p:cNvPr id="8" name="TextBox 8"/>
          <p:cNvSpPr txBox="1"/>
          <p:nvPr/>
        </p:nvSpPr>
        <p:spPr>
          <a:xfrm>
            <a:off x="5833460" y="4723476"/>
            <a:ext cx="10055185" cy="659765"/>
          </a:xfrm>
          <a:prstGeom prst="rect">
            <a:avLst/>
          </a:prstGeom>
        </p:spPr>
        <p:txBody>
          <a:bodyPr lIns="0" tIns="0" rIns="0" bIns="0" rtlCol="0" anchor="t">
            <a:spAutoFit/>
          </a:bodyPr>
          <a:lstStyle/>
          <a:p>
            <a:pPr algn="ctr">
              <a:lnSpc>
                <a:spcPts val="5170"/>
              </a:lnSpc>
              <a:spcBef>
                <a:spcPct val="0"/>
              </a:spcBef>
            </a:pPr>
            <a:r>
              <a:rPr lang="en-US" sz="4700" b="1">
                <a:solidFill>
                  <a:srgbClr val="002566"/>
                </a:solidFill>
                <a:latin typeface="Sarabun Bold"/>
                <a:ea typeface="Sarabun Bold"/>
                <a:cs typeface="Sarabun Bold"/>
                <a:sym typeface="Sarabun Bold"/>
              </a:rPr>
              <a:t>Generic</a:t>
            </a:r>
            <a:r>
              <a:rPr lang="en-US" sz="4700">
                <a:solidFill>
                  <a:srgbClr val="002566"/>
                </a:solidFill>
                <a:latin typeface="Sarabun"/>
                <a:ea typeface="Sarabun"/>
                <a:cs typeface="Sarabun"/>
                <a:sym typeface="Sarabun"/>
              </a:rPr>
              <a:t> workflow management</a:t>
            </a:r>
            <a:r>
              <a:rPr lang="en-US" sz="4700" b="1">
                <a:solidFill>
                  <a:srgbClr val="002566"/>
                </a:solidFill>
                <a:latin typeface="Sarabun Bold"/>
                <a:ea typeface="Sarabun Bold"/>
                <a:cs typeface="Sarabun Bold"/>
                <a:sym typeface="Sarabun Bold"/>
              </a:rPr>
              <a:t> </a:t>
            </a:r>
            <a:r>
              <a:rPr lang="en-US" sz="4700">
                <a:solidFill>
                  <a:srgbClr val="002566"/>
                </a:solidFill>
                <a:latin typeface="Sarabun"/>
                <a:ea typeface="Sarabun"/>
                <a:cs typeface="Sarabun"/>
                <a:sym typeface="Sarabun"/>
              </a:rPr>
              <a:t>system</a:t>
            </a:r>
          </a:p>
        </p:txBody>
      </p:sp>
      <p:sp>
        <p:nvSpPr>
          <p:cNvPr id="9" name="TextBox 9"/>
          <p:cNvSpPr txBox="1"/>
          <p:nvPr/>
        </p:nvSpPr>
        <p:spPr>
          <a:xfrm>
            <a:off x="5870072" y="6307166"/>
            <a:ext cx="10598348" cy="626110"/>
          </a:xfrm>
          <a:prstGeom prst="rect">
            <a:avLst/>
          </a:prstGeom>
        </p:spPr>
        <p:txBody>
          <a:bodyPr lIns="0" tIns="0" rIns="0" bIns="0" rtlCol="0" anchor="t">
            <a:spAutoFit/>
          </a:bodyPr>
          <a:lstStyle/>
          <a:p>
            <a:pPr algn="ctr">
              <a:lnSpc>
                <a:spcPts val="4730"/>
              </a:lnSpc>
              <a:spcBef>
                <a:spcPct val="0"/>
              </a:spcBef>
            </a:pPr>
            <a:r>
              <a:rPr lang="en-US" sz="4300" b="1">
                <a:solidFill>
                  <a:srgbClr val="002566"/>
                </a:solidFill>
                <a:latin typeface="Sarabun Bold"/>
                <a:ea typeface="Sarabun Bold"/>
                <a:cs typeface="Sarabun Bold"/>
                <a:sym typeface="Sarabun Bold"/>
              </a:rPr>
              <a:t>Customisable</a:t>
            </a:r>
            <a:r>
              <a:rPr lang="en-US" sz="4300">
                <a:solidFill>
                  <a:srgbClr val="002566"/>
                </a:solidFill>
                <a:latin typeface="Sarabun"/>
                <a:ea typeface="Sarabun"/>
                <a:cs typeface="Sarabun"/>
                <a:sym typeface="Sarabun"/>
              </a:rPr>
              <a:t> tasks, stages and dependencie</a:t>
            </a:r>
          </a:p>
        </p:txBody>
      </p:sp>
      <p:sp>
        <p:nvSpPr>
          <p:cNvPr id="10" name="TextBox 10"/>
          <p:cNvSpPr txBox="1"/>
          <p:nvPr/>
        </p:nvSpPr>
        <p:spPr>
          <a:xfrm>
            <a:off x="5870072" y="7857201"/>
            <a:ext cx="7087314" cy="626110"/>
          </a:xfrm>
          <a:prstGeom prst="rect">
            <a:avLst/>
          </a:prstGeom>
        </p:spPr>
        <p:txBody>
          <a:bodyPr lIns="0" tIns="0" rIns="0" bIns="0" rtlCol="0" anchor="t">
            <a:spAutoFit/>
          </a:bodyPr>
          <a:lstStyle/>
          <a:p>
            <a:pPr algn="ctr">
              <a:lnSpc>
                <a:spcPts val="4730"/>
              </a:lnSpc>
              <a:spcBef>
                <a:spcPct val="0"/>
              </a:spcBef>
            </a:pPr>
            <a:r>
              <a:rPr lang="en-US" sz="4300" b="1">
                <a:solidFill>
                  <a:srgbClr val="002566"/>
                </a:solidFill>
                <a:latin typeface="Sarabun Bold"/>
                <a:ea typeface="Sarabun Bold"/>
                <a:cs typeface="Sarabun Bold"/>
                <a:sym typeface="Sarabun Bold"/>
              </a:rPr>
              <a:t>Reusable</a:t>
            </a:r>
            <a:r>
              <a:rPr lang="en-US" sz="4300">
                <a:solidFill>
                  <a:srgbClr val="002566"/>
                </a:solidFill>
                <a:latin typeface="Sarabun"/>
                <a:ea typeface="Sarabun"/>
                <a:cs typeface="Sarabun"/>
                <a:sym typeface="Sarabun"/>
              </a:rPr>
              <a:t> workflow definitions</a:t>
            </a:r>
          </a:p>
        </p:txBody>
      </p:sp>
      <p:sp>
        <p:nvSpPr>
          <p:cNvPr id="11" name="Freeform 11"/>
          <p:cNvSpPr/>
          <p:nvPr/>
        </p:nvSpPr>
        <p:spPr>
          <a:xfrm rot="-10800000">
            <a:off x="1247849" y="80048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667542" y="-204094"/>
            <a:ext cx="7221357" cy="11174670"/>
            <a:chOff x="0" y="0"/>
            <a:chExt cx="1901921" cy="2943123"/>
          </a:xfrm>
        </p:grpSpPr>
        <p:sp>
          <p:nvSpPr>
            <p:cNvPr id="3" name="Freeform 3"/>
            <p:cNvSpPr/>
            <p:nvPr/>
          </p:nvSpPr>
          <p:spPr>
            <a:xfrm>
              <a:off x="0" y="0"/>
              <a:ext cx="1901921" cy="2943123"/>
            </a:xfrm>
            <a:custGeom>
              <a:avLst/>
              <a:gdLst/>
              <a:ahLst/>
              <a:cxnLst/>
              <a:rect l="l" t="t" r="r" b="b"/>
              <a:pathLst>
                <a:path w="1901921" h="2943123">
                  <a:moveTo>
                    <a:pt x="54676" y="0"/>
                  </a:moveTo>
                  <a:lnTo>
                    <a:pt x="1847245" y="0"/>
                  </a:lnTo>
                  <a:cubicBezTo>
                    <a:pt x="1861746" y="0"/>
                    <a:pt x="1875653" y="5761"/>
                    <a:pt x="1885907" y="16014"/>
                  </a:cubicBezTo>
                  <a:cubicBezTo>
                    <a:pt x="1896161" y="26268"/>
                    <a:pt x="1901921" y="40175"/>
                    <a:pt x="1901921" y="54676"/>
                  </a:cubicBezTo>
                  <a:lnTo>
                    <a:pt x="1901921" y="2888447"/>
                  </a:lnTo>
                  <a:cubicBezTo>
                    <a:pt x="1901921" y="2902948"/>
                    <a:pt x="1896161" y="2916855"/>
                    <a:pt x="1885907" y="2927109"/>
                  </a:cubicBezTo>
                  <a:cubicBezTo>
                    <a:pt x="1875653" y="2937363"/>
                    <a:pt x="1861746" y="2943123"/>
                    <a:pt x="1847245" y="2943123"/>
                  </a:cubicBezTo>
                  <a:lnTo>
                    <a:pt x="54676" y="2943123"/>
                  </a:lnTo>
                  <a:cubicBezTo>
                    <a:pt x="40175" y="2943123"/>
                    <a:pt x="26268" y="2937363"/>
                    <a:pt x="16014" y="2927109"/>
                  </a:cubicBezTo>
                  <a:cubicBezTo>
                    <a:pt x="5761" y="2916855"/>
                    <a:pt x="0" y="2902948"/>
                    <a:pt x="0" y="2888447"/>
                  </a:cubicBezTo>
                  <a:lnTo>
                    <a:pt x="0" y="54676"/>
                  </a:lnTo>
                  <a:cubicBezTo>
                    <a:pt x="0" y="40175"/>
                    <a:pt x="5761" y="26268"/>
                    <a:pt x="16014" y="16014"/>
                  </a:cubicBezTo>
                  <a:cubicBezTo>
                    <a:pt x="26268" y="5761"/>
                    <a:pt x="40175" y="0"/>
                    <a:pt x="54676" y="0"/>
                  </a:cubicBezTo>
                  <a:close/>
                </a:path>
              </a:pathLst>
            </a:custGeom>
            <a:solidFill>
              <a:srgbClr val="002566"/>
            </a:solidFill>
          </p:spPr>
          <p:txBody>
            <a:bodyPr/>
            <a:lstStyle/>
            <a:p>
              <a:endParaRPr lang="en-ZA"/>
            </a:p>
          </p:txBody>
        </p:sp>
        <p:sp>
          <p:nvSpPr>
            <p:cNvPr id="4" name="TextBox 4"/>
            <p:cNvSpPr txBox="1"/>
            <p:nvPr/>
          </p:nvSpPr>
          <p:spPr>
            <a:xfrm>
              <a:off x="0" y="-28575"/>
              <a:ext cx="1901921" cy="297169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TextBox 6"/>
          <p:cNvSpPr txBox="1"/>
          <p:nvPr/>
        </p:nvSpPr>
        <p:spPr>
          <a:xfrm>
            <a:off x="5833460" y="2704251"/>
            <a:ext cx="9726692" cy="5748655"/>
          </a:xfrm>
          <a:prstGeom prst="rect">
            <a:avLst/>
          </a:prstGeom>
        </p:spPr>
        <p:txBody>
          <a:bodyPr lIns="0" tIns="0" rIns="0" bIns="0" rtlCol="0" anchor="t">
            <a:spAutoFit/>
          </a:bodyPr>
          <a:lstStyle/>
          <a:p>
            <a:pPr marL="1014731" lvl="1" indent="-507365" algn="just">
              <a:lnSpc>
                <a:spcPts val="11750"/>
              </a:lnSpc>
              <a:spcBef>
                <a:spcPct val="0"/>
              </a:spcBef>
              <a:buFont typeface="Arial"/>
              <a:buChar char="•"/>
            </a:pPr>
            <a:r>
              <a:rPr lang="en-US" sz="4700">
                <a:solidFill>
                  <a:srgbClr val="002566"/>
                </a:solidFill>
                <a:latin typeface="Sarabun"/>
                <a:ea typeface="Sarabun"/>
                <a:cs typeface="Sarabun"/>
                <a:sym typeface="Sarabun"/>
              </a:rPr>
              <a:t>Create a workflow instance</a:t>
            </a:r>
          </a:p>
          <a:p>
            <a:pPr marL="1014731" lvl="1" indent="-507365" algn="just">
              <a:lnSpc>
                <a:spcPts val="11750"/>
              </a:lnSpc>
              <a:spcBef>
                <a:spcPct val="0"/>
              </a:spcBef>
              <a:buFont typeface="Arial"/>
              <a:buChar char="•"/>
            </a:pPr>
            <a:r>
              <a:rPr lang="en-US" sz="4700">
                <a:solidFill>
                  <a:srgbClr val="002566"/>
                </a:solidFill>
                <a:latin typeface="Sarabun"/>
                <a:ea typeface="Sarabun"/>
                <a:cs typeface="Sarabun"/>
                <a:sym typeface="Sarabun"/>
              </a:rPr>
              <a:t>Assign, start and complete tasks</a:t>
            </a:r>
          </a:p>
          <a:p>
            <a:pPr marL="1014731" lvl="1" indent="-507365" algn="just">
              <a:lnSpc>
                <a:spcPts val="11750"/>
              </a:lnSpc>
              <a:spcBef>
                <a:spcPct val="0"/>
              </a:spcBef>
              <a:buFont typeface="Arial"/>
              <a:buChar char="•"/>
            </a:pPr>
            <a:r>
              <a:rPr lang="en-US" sz="4700">
                <a:solidFill>
                  <a:srgbClr val="002566"/>
                </a:solidFill>
                <a:latin typeface="Sarabun"/>
                <a:ea typeface="Sarabun"/>
                <a:cs typeface="Sarabun"/>
                <a:sym typeface="Sarabun"/>
              </a:rPr>
              <a:t>Repeat until workflow completion</a:t>
            </a:r>
          </a:p>
          <a:p>
            <a:pPr algn="just">
              <a:lnSpc>
                <a:spcPts val="11750"/>
              </a:lnSpc>
              <a:spcBef>
                <a:spcPct val="0"/>
              </a:spcBef>
            </a:pPr>
            <a:endParaRPr lang="en-US" sz="4700">
              <a:solidFill>
                <a:srgbClr val="002566"/>
              </a:solidFill>
              <a:latin typeface="Sarabun"/>
              <a:ea typeface="Sarabun"/>
              <a:cs typeface="Sarabun"/>
              <a:sym typeface="Sarabun"/>
            </a:endParaRPr>
          </a:p>
        </p:txBody>
      </p:sp>
      <p:sp>
        <p:nvSpPr>
          <p:cNvPr id="7" name="Freeform 7"/>
          <p:cNvSpPr/>
          <p:nvPr/>
        </p:nvSpPr>
        <p:spPr>
          <a:xfrm>
            <a:off x="814867" y="34307"/>
            <a:ext cx="3874564" cy="10252693"/>
          </a:xfrm>
          <a:custGeom>
            <a:avLst/>
            <a:gdLst/>
            <a:ahLst/>
            <a:cxnLst/>
            <a:rect l="l" t="t" r="r" b="b"/>
            <a:pathLst>
              <a:path w="3874564" h="10252693">
                <a:moveTo>
                  <a:pt x="0" y="0"/>
                </a:moveTo>
                <a:lnTo>
                  <a:pt x="3874564" y="0"/>
                </a:lnTo>
                <a:lnTo>
                  <a:pt x="3874564" y="10252693"/>
                </a:lnTo>
                <a:lnTo>
                  <a:pt x="0" y="10252693"/>
                </a:lnTo>
                <a:lnTo>
                  <a:pt x="0" y="0"/>
                </a:lnTo>
                <a:close/>
              </a:path>
            </a:pathLst>
          </a:custGeom>
          <a:blipFill>
            <a:blip r:embed="rId3"/>
            <a:stretch>
              <a:fillRect/>
            </a:stretch>
          </a:blipFill>
        </p:spPr>
        <p:txBody>
          <a:bodyPr/>
          <a:lstStyle/>
          <a:p>
            <a:endParaRPr lang="en-ZA"/>
          </a:p>
        </p:txBody>
      </p:sp>
      <p:sp>
        <p:nvSpPr>
          <p:cNvPr id="8" name="TextBox 8"/>
          <p:cNvSpPr txBox="1"/>
          <p:nvPr/>
        </p:nvSpPr>
        <p:spPr>
          <a:xfrm>
            <a:off x="5833460" y="-76314"/>
            <a:ext cx="9605469" cy="1775460"/>
          </a:xfrm>
          <a:prstGeom prst="rect">
            <a:avLst/>
          </a:prstGeom>
        </p:spPr>
        <p:txBody>
          <a:bodyPr lIns="0" tIns="0" rIns="0" bIns="0" rtlCol="0" anchor="t">
            <a:spAutoFit/>
          </a:bodyPr>
          <a:lstStyle/>
          <a:p>
            <a:pPr algn="l">
              <a:lnSpc>
                <a:spcPts val="6929"/>
              </a:lnSpc>
            </a:pPr>
            <a:endParaRPr/>
          </a:p>
          <a:p>
            <a:pPr algn="l">
              <a:lnSpc>
                <a:spcPts val="6929"/>
              </a:lnSpc>
            </a:pPr>
            <a:r>
              <a:rPr lang="en-US" sz="6299" b="1">
                <a:solidFill>
                  <a:srgbClr val="002566"/>
                </a:solidFill>
                <a:latin typeface="Sarabun Bold"/>
                <a:ea typeface="Sarabun Bold"/>
                <a:cs typeface="Sarabun Bold"/>
                <a:sym typeface="Sarabun Bold"/>
              </a:rPr>
              <a:t>WORKFLOW EXECUTION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667542" y="-204094"/>
            <a:ext cx="8249221" cy="11258011"/>
            <a:chOff x="0" y="0"/>
            <a:chExt cx="2172634" cy="2965073"/>
          </a:xfrm>
        </p:grpSpPr>
        <p:sp>
          <p:nvSpPr>
            <p:cNvPr id="3" name="Freeform 3"/>
            <p:cNvSpPr/>
            <p:nvPr/>
          </p:nvSpPr>
          <p:spPr>
            <a:xfrm>
              <a:off x="0" y="0"/>
              <a:ext cx="2172634" cy="2965073"/>
            </a:xfrm>
            <a:custGeom>
              <a:avLst/>
              <a:gdLst/>
              <a:ahLst/>
              <a:cxnLst/>
              <a:rect l="l" t="t" r="r" b="b"/>
              <a:pathLst>
                <a:path w="2172634" h="2965073">
                  <a:moveTo>
                    <a:pt x="47864" y="0"/>
                  </a:moveTo>
                  <a:lnTo>
                    <a:pt x="2124771" y="0"/>
                  </a:lnTo>
                  <a:cubicBezTo>
                    <a:pt x="2151205" y="0"/>
                    <a:pt x="2172634" y="21429"/>
                    <a:pt x="2172634" y="47864"/>
                  </a:cubicBezTo>
                  <a:lnTo>
                    <a:pt x="2172634" y="2917209"/>
                  </a:lnTo>
                  <a:cubicBezTo>
                    <a:pt x="2172634" y="2929904"/>
                    <a:pt x="2167592" y="2942078"/>
                    <a:pt x="2158616" y="2951054"/>
                  </a:cubicBezTo>
                  <a:cubicBezTo>
                    <a:pt x="2149639" y="2960030"/>
                    <a:pt x="2137465" y="2965073"/>
                    <a:pt x="2124771" y="2965073"/>
                  </a:cubicBezTo>
                  <a:lnTo>
                    <a:pt x="47864" y="2965073"/>
                  </a:lnTo>
                  <a:cubicBezTo>
                    <a:pt x="21429" y="2965073"/>
                    <a:pt x="0" y="2943644"/>
                    <a:pt x="0" y="2917209"/>
                  </a:cubicBezTo>
                  <a:lnTo>
                    <a:pt x="0" y="47864"/>
                  </a:lnTo>
                  <a:cubicBezTo>
                    <a:pt x="0" y="35169"/>
                    <a:pt x="5043" y="22995"/>
                    <a:pt x="14019" y="14019"/>
                  </a:cubicBezTo>
                  <a:cubicBezTo>
                    <a:pt x="22995" y="5043"/>
                    <a:pt x="35169" y="0"/>
                    <a:pt x="47864" y="0"/>
                  </a:cubicBezTo>
                  <a:close/>
                </a:path>
              </a:pathLst>
            </a:custGeom>
            <a:solidFill>
              <a:srgbClr val="002566"/>
            </a:solidFill>
          </p:spPr>
          <p:txBody>
            <a:bodyPr/>
            <a:lstStyle/>
            <a:p>
              <a:endParaRPr lang="en-ZA"/>
            </a:p>
          </p:txBody>
        </p:sp>
        <p:sp>
          <p:nvSpPr>
            <p:cNvPr id="4" name="TextBox 4"/>
            <p:cNvSpPr txBox="1"/>
            <p:nvPr/>
          </p:nvSpPr>
          <p:spPr>
            <a:xfrm>
              <a:off x="0" y="-28575"/>
              <a:ext cx="2172634" cy="299364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094297" y="-204094"/>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170258" y="168443"/>
            <a:ext cx="6164295" cy="9954680"/>
          </a:xfrm>
          <a:custGeom>
            <a:avLst/>
            <a:gdLst/>
            <a:ahLst/>
            <a:cxnLst/>
            <a:rect l="l" t="t" r="r" b="b"/>
            <a:pathLst>
              <a:path w="6164295" h="9954680">
                <a:moveTo>
                  <a:pt x="0" y="0"/>
                </a:moveTo>
                <a:lnTo>
                  <a:pt x="6164294" y="0"/>
                </a:lnTo>
                <a:lnTo>
                  <a:pt x="6164294" y="9954680"/>
                </a:lnTo>
                <a:lnTo>
                  <a:pt x="0" y="9954680"/>
                </a:lnTo>
                <a:lnTo>
                  <a:pt x="0" y="0"/>
                </a:lnTo>
                <a:close/>
              </a:path>
            </a:pathLst>
          </a:custGeom>
          <a:blipFill>
            <a:blip r:embed="rId3"/>
            <a:stretch>
              <a:fillRect/>
            </a:stretch>
          </a:blipFill>
        </p:spPr>
        <p:txBody>
          <a:bodyPr/>
          <a:lstStyle/>
          <a:p>
            <a:endParaRPr lang="en-ZA"/>
          </a:p>
        </p:txBody>
      </p:sp>
      <p:sp>
        <p:nvSpPr>
          <p:cNvPr id="7" name="TextBox 7"/>
          <p:cNvSpPr txBox="1"/>
          <p:nvPr/>
        </p:nvSpPr>
        <p:spPr>
          <a:xfrm>
            <a:off x="6581679" y="2243406"/>
            <a:ext cx="11192771" cy="6360248"/>
          </a:xfrm>
          <a:prstGeom prst="rect">
            <a:avLst/>
          </a:prstGeom>
        </p:spPr>
        <p:txBody>
          <a:bodyPr lIns="0" tIns="0" rIns="0" bIns="0" rtlCol="0" anchor="t">
            <a:spAutoFit/>
          </a:bodyPr>
          <a:lstStyle/>
          <a:p>
            <a:pPr marL="891559" lvl="1" indent="-445779" algn="just">
              <a:lnSpc>
                <a:spcPts val="10323"/>
              </a:lnSpc>
              <a:spcBef>
                <a:spcPct val="0"/>
              </a:spcBef>
              <a:buFont typeface="Arial"/>
              <a:buChar char="•"/>
            </a:pPr>
            <a:r>
              <a:rPr lang="en-US" sz="4129">
                <a:solidFill>
                  <a:srgbClr val="002566"/>
                </a:solidFill>
                <a:latin typeface="Sarabun"/>
                <a:ea typeface="Sarabun"/>
                <a:cs typeface="Sarabun"/>
                <a:sym typeface="Sarabun"/>
              </a:rPr>
              <a:t>Configurable stages, tasks and dependencies</a:t>
            </a:r>
          </a:p>
          <a:p>
            <a:pPr marL="891559" lvl="1" indent="-445779" algn="just">
              <a:lnSpc>
                <a:spcPts val="10323"/>
              </a:lnSpc>
              <a:spcBef>
                <a:spcPct val="0"/>
              </a:spcBef>
              <a:buFont typeface="Arial"/>
              <a:buChar char="•"/>
            </a:pPr>
            <a:r>
              <a:rPr lang="en-US" sz="4129">
                <a:solidFill>
                  <a:srgbClr val="002566"/>
                </a:solidFill>
                <a:latin typeface="Sarabun"/>
                <a:ea typeface="Sarabun"/>
                <a:cs typeface="Sarabun"/>
                <a:sym typeface="Sarabun"/>
              </a:rPr>
              <a:t>Parallel execution of independent tasks</a:t>
            </a:r>
          </a:p>
          <a:p>
            <a:pPr marL="891559" lvl="1" indent="-445779" algn="just">
              <a:lnSpc>
                <a:spcPts val="10323"/>
              </a:lnSpc>
              <a:spcBef>
                <a:spcPct val="0"/>
              </a:spcBef>
              <a:buFont typeface="Arial"/>
              <a:buChar char="•"/>
            </a:pPr>
            <a:r>
              <a:rPr lang="en-US" sz="4129">
                <a:solidFill>
                  <a:srgbClr val="002566"/>
                </a:solidFill>
                <a:latin typeface="Sarabun"/>
                <a:ea typeface="Sarabun"/>
                <a:cs typeface="Sarabun"/>
                <a:sym typeface="Sarabun"/>
              </a:rPr>
              <a:t>Conditional decisions and approval processes</a:t>
            </a:r>
          </a:p>
          <a:p>
            <a:pPr marL="891559" lvl="1" indent="-445779" algn="just">
              <a:lnSpc>
                <a:spcPts val="10323"/>
              </a:lnSpc>
              <a:spcBef>
                <a:spcPct val="0"/>
              </a:spcBef>
              <a:buFont typeface="Arial"/>
              <a:buChar char="•"/>
            </a:pPr>
            <a:r>
              <a:rPr lang="en-US" sz="4129">
                <a:solidFill>
                  <a:srgbClr val="002566"/>
                </a:solidFill>
                <a:latin typeface="Sarabun"/>
                <a:ea typeface="Sarabun"/>
                <a:cs typeface="Sarabun"/>
                <a:sym typeface="Sarabun"/>
              </a:rPr>
              <a:t>Automated progression through the workflow</a:t>
            </a:r>
          </a:p>
          <a:p>
            <a:pPr algn="just">
              <a:lnSpc>
                <a:spcPts val="10323"/>
              </a:lnSpc>
              <a:spcBef>
                <a:spcPct val="0"/>
              </a:spcBef>
            </a:pPr>
            <a:endParaRPr lang="en-US" sz="4129">
              <a:solidFill>
                <a:srgbClr val="002566"/>
              </a:solidFill>
              <a:latin typeface="Sarabun"/>
              <a:ea typeface="Sarabun"/>
              <a:cs typeface="Sarabun"/>
              <a:sym typeface="Sarabun"/>
            </a:endParaRPr>
          </a:p>
        </p:txBody>
      </p:sp>
      <p:sp>
        <p:nvSpPr>
          <p:cNvPr id="8" name="TextBox 8"/>
          <p:cNvSpPr txBox="1"/>
          <p:nvPr/>
        </p:nvSpPr>
        <p:spPr>
          <a:xfrm>
            <a:off x="6838838" y="450464"/>
            <a:ext cx="8830609" cy="1627626"/>
          </a:xfrm>
          <a:prstGeom prst="rect">
            <a:avLst/>
          </a:prstGeom>
        </p:spPr>
        <p:txBody>
          <a:bodyPr lIns="0" tIns="0" rIns="0" bIns="0" rtlCol="0" anchor="t">
            <a:spAutoFit/>
          </a:bodyPr>
          <a:lstStyle/>
          <a:p>
            <a:pPr algn="l">
              <a:lnSpc>
                <a:spcPts val="6370"/>
              </a:lnSpc>
            </a:pPr>
            <a:r>
              <a:rPr lang="en-US" sz="5791" b="1">
                <a:solidFill>
                  <a:srgbClr val="002566"/>
                </a:solidFill>
                <a:latin typeface="Sarabun Bold"/>
                <a:ea typeface="Sarabun Bold"/>
                <a:cs typeface="Sarabun Bold"/>
                <a:sym typeface="Sarabun Bold"/>
              </a:rPr>
              <a:t>GENERIC WORKFLOW EXAMPLE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60675" y="1324809"/>
            <a:ext cx="18718628" cy="11580699"/>
            <a:chOff x="0" y="0"/>
            <a:chExt cx="4930009" cy="3050061"/>
          </a:xfrm>
        </p:grpSpPr>
        <p:sp>
          <p:nvSpPr>
            <p:cNvPr id="3" name="Freeform 3"/>
            <p:cNvSpPr/>
            <p:nvPr/>
          </p:nvSpPr>
          <p:spPr>
            <a:xfrm>
              <a:off x="0" y="0"/>
              <a:ext cx="4930009" cy="3050061"/>
            </a:xfrm>
            <a:custGeom>
              <a:avLst/>
              <a:gdLst/>
              <a:ahLst/>
              <a:cxnLst/>
              <a:rect l="l" t="t" r="r" b="b"/>
              <a:pathLst>
                <a:path w="4930009" h="3050061">
                  <a:moveTo>
                    <a:pt x="21093" y="0"/>
                  </a:moveTo>
                  <a:lnTo>
                    <a:pt x="4908916" y="0"/>
                  </a:lnTo>
                  <a:cubicBezTo>
                    <a:pt x="4914510" y="0"/>
                    <a:pt x="4919875" y="2222"/>
                    <a:pt x="4923831" y="6178"/>
                  </a:cubicBezTo>
                  <a:cubicBezTo>
                    <a:pt x="4927787" y="10134"/>
                    <a:pt x="4930009" y="15499"/>
                    <a:pt x="4930009" y="21093"/>
                  </a:cubicBezTo>
                  <a:lnTo>
                    <a:pt x="4930009" y="3028967"/>
                  </a:lnTo>
                  <a:cubicBezTo>
                    <a:pt x="4930009" y="3040617"/>
                    <a:pt x="4920566" y="3050061"/>
                    <a:pt x="4908916" y="3050061"/>
                  </a:cubicBezTo>
                  <a:lnTo>
                    <a:pt x="21093" y="3050061"/>
                  </a:lnTo>
                  <a:cubicBezTo>
                    <a:pt x="9444" y="3050061"/>
                    <a:pt x="0" y="3040617"/>
                    <a:pt x="0" y="3028967"/>
                  </a:cubicBezTo>
                  <a:lnTo>
                    <a:pt x="0" y="21093"/>
                  </a:lnTo>
                  <a:cubicBezTo>
                    <a:pt x="0" y="9444"/>
                    <a:pt x="9444" y="0"/>
                    <a:pt x="21093" y="0"/>
                  </a:cubicBezTo>
                  <a:close/>
                </a:path>
              </a:pathLst>
            </a:custGeom>
            <a:solidFill>
              <a:srgbClr val="002566"/>
            </a:solidFill>
          </p:spPr>
          <p:txBody>
            <a:bodyPr/>
            <a:lstStyle/>
            <a:p>
              <a:endParaRPr lang="en-ZA"/>
            </a:p>
          </p:txBody>
        </p:sp>
        <p:sp>
          <p:nvSpPr>
            <p:cNvPr id="4" name="TextBox 4"/>
            <p:cNvSpPr txBox="1"/>
            <p:nvPr/>
          </p:nvSpPr>
          <p:spPr>
            <a:xfrm>
              <a:off x="0" y="-28575"/>
              <a:ext cx="4930009" cy="307863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334124" y="1481870"/>
            <a:ext cx="17744501" cy="8524754"/>
          </a:xfrm>
          <a:custGeom>
            <a:avLst/>
            <a:gdLst/>
            <a:ahLst/>
            <a:cxnLst/>
            <a:rect l="l" t="t" r="r" b="b"/>
            <a:pathLst>
              <a:path w="17744501" h="8524754">
                <a:moveTo>
                  <a:pt x="0" y="0"/>
                </a:moveTo>
                <a:lnTo>
                  <a:pt x="17744501" y="0"/>
                </a:lnTo>
                <a:lnTo>
                  <a:pt x="17744501" y="8524754"/>
                </a:lnTo>
                <a:lnTo>
                  <a:pt x="0" y="8524754"/>
                </a:lnTo>
                <a:lnTo>
                  <a:pt x="0" y="0"/>
                </a:lnTo>
                <a:close/>
              </a:path>
            </a:pathLst>
          </a:custGeom>
          <a:blipFill>
            <a:blip r:embed="rId3"/>
            <a:stretch>
              <a:fillRect/>
            </a:stretch>
          </a:blipFill>
        </p:spPr>
        <p:txBody>
          <a:bodyPr/>
          <a:lstStyle/>
          <a:p>
            <a:endParaRPr lang="en-ZA"/>
          </a:p>
        </p:txBody>
      </p:sp>
      <p:sp>
        <p:nvSpPr>
          <p:cNvPr id="7" name="TextBox 7"/>
          <p:cNvSpPr txBox="1"/>
          <p:nvPr/>
        </p:nvSpPr>
        <p:spPr>
          <a:xfrm>
            <a:off x="654276" y="523587"/>
            <a:ext cx="7134567" cy="754720"/>
          </a:xfrm>
          <a:prstGeom prst="rect">
            <a:avLst/>
          </a:prstGeom>
        </p:spPr>
        <p:txBody>
          <a:bodyPr lIns="0" tIns="0" rIns="0" bIns="0" rtlCol="0" anchor="t">
            <a:spAutoFit/>
          </a:bodyPr>
          <a:lstStyle/>
          <a:p>
            <a:pPr algn="l">
              <a:lnSpc>
                <a:spcPts val="5883"/>
              </a:lnSpc>
            </a:pPr>
            <a:r>
              <a:rPr lang="en-US" sz="5348">
                <a:solidFill>
                  <a:srgbClr val="002566"/>
                </a:solidFill>
                <a:latin typeface="Sarabun"/>
                <a:ea typeface="Sarabun"/>
                <a:cs typeface="Sarabun"/>
                <a:sym typeface="Sarabun"/>
              </a:rPr>
              <a:t>SEQUENCE DIAGRAM</a:t>
            </a:r>
          </a:p>
        </p:txBody>
      </p:sp>
      <p:sp>
        <p:nvSpPr>
          <p:cNvPr id="8" name="TextBox 8"/>
          <p:cNvSpPr txBox="1"/>
          <p:nvPr/>
        </p:nvSpPr>
        <p:spPr>
          <a:xfrm>
            <a:off x="7788843" y="486610"/>
            <a:ext cx="4836517" cy="838200"/>
          </a:xfrm>
          <a:prstGeom prst="rect">
            <a:avLst/>
          </a:prstGeom>
        </p:spPr>
        <p:txBody>
          <a:bodyPr lIns="0" tIns="0" rIns="0" bIns="0" rtlCol="0" anchor="t">
            <a:spAutoFit/>
          </a:bodyPr>
          <a:lstStyle/>
          <a:p>
            <a:pPr algn="l">
              <a:lnSpc>
                <a:spcPts val="6599"/>
              </a:lnSpc>
            </a:pPr>
            <a:r>
              <a:rPr lang="en-US" sz="5999">
                <a:solidFill>
                  <a:srgbClr val="002566"/>
                </a:solidFill>
                <a:latin typeface="Sarabun"/>
                <a:ea typeface="Sarabun"/>
                <a:cs typeface="Sarabun"/>
                <a:sym typeface="Sarabun"/>
              </a:rPr>
              <a:t>Create &amp; Start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1952181"/>
            <a:ext cx="18288000" cy="9438450"/>
            <a:chOff x="0" y="0"/>
            <a:chExt cx="4816593" cy="2485847"/>
          </a:xfrm>
        </p:grpSpPr>
        <p:sp>
          <p:nvSpPr>
            <p:cNvPr id="3" name="Freeform 3"/>
            <p:cNvSpPr/>
            <p:nvPr/>
          </p:nvSpPr>
          <p:spPr>
            <a:xfrm>
              <a:off x="0" y="0"/>
              <a:ext cx="4816592" cy="2485847"/>
            </a:xfrm>
            <a:custGeom>
              <a:avLst/>
              <a:gdLst/>
              <a:ahLst/>
              <a:cxnLst/>
              <a:rect l="l" t="t" r="r" b="b"/>
              <a:pathLst>
                <a:path w="4816592" h="2485847">
                  <a:moveTo>
                    <a:pt x="21590" y="0"/>
                  </a:moveTo>
                  <a:lnTo>
                    <a:pt x="4795002" y="0"/>
                  </a:lnTo>
                  <a:cubicBezTo>
                    <a:pt x="4800728" y="0"/>
                    <a:pt x="4806220" y="2275"/>
                    <a:pt x="4810269" y="6324"/>
                  </a:cubicBezTo>
                  <a:cubicBezTo>
                    <a:pt x="4814318" y="10372"/>
                    <a:pt x="4816592" y="15864"/>
                    <a:pt x="4816592" y="21590"/>
                  </a:cubicBezTo>
                  <a:lnTo>
                    <a:pt x="4816592" y="2464257"/>
                  </a:lnTo>
                  <a:cubicBezTo>
                    <a:pt x="4816592" y="2476181"/>
                    <a:pt x="4806926" y="2485847"/>
                    <a:pt x="4795002" y="2485847"/>
                  </a:cubicBezTo>
                  <a:lnTo>
                    <a:pt x="21590" y="2485847"/>
                  </a:lnTo>
                  <a:cubicBezTo>
                    <a:pt x="15864" y="2485847"/>
                    <a:pt x="10372" y="2483572"/>
                    <a:pt x="6324" y="2479523"/>
                  </a:cubicBezTo>
                  <a:cubicBezTo>
                    <a:pt x="2275" y="2475475"/>
                    <a:pt x="0" y="2469983"/>
                    <a:pt x="0" y="2464257"/>
                  </a:cubicBezTo>
                  <a:lnTo>
                    <a:pt x="0" y="21590"/>
                  </a:lnTo>
                  <a:cubicBezTo>
                    <a:pt x="0" y="9666"/>
                    <a:pt x="9666" y="0"/>
                    <a:pt x="21590" y="0"/>
                  </a:cubicBezTo>
                  <a:close/>
                </a:path>
              </a:pathLst>
            </a:custGeom>
            <a:solidFill>
              <a:srgbClr val="002566"/>
            </a:solidFill>
          </p:spPr>
          <p:txBody>
            <a:bodyPr/>
            <a:lstStyle/>
            <a:p>
              <a:endParaRPr lang="en-ZA"/>
            </a:p>
          </p:txBody>
        </p:sp>
        <p:sp>
          <p:nvSpPr>
            <p:cNvPr id="4" name="TextBox 4"/>
            <p:cNvSpPr txBox="1"/>
            <p:nvPr/>
          </p:nvSpPr>
          <p:spPr>
            <a:xfrm>
              <a:off x="0" y="-28575"/>
              <a:ext cx="4816593" cy="251442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622035" y="-231216"/>
            <a:ext cx="2988574" cy="2282184"/>
          </a:xfrm>
          <a:custGeom>
            <a:avLst/>
            <a:gdLst/>
            <a:ahLst/>
            <a:cxnLst/>
            <a:rect l="l" t="t" r="r" b="b"/>
            <a:pathLst>
              <a:path w="2988574" h="2282184">
                <a:moveTo>
                  <a:pt x="0" y="0"/>
                </a:moveTo>
                <a:lnTo>
                  <a:pt x="2988574" y="0"/>
                </a:lnTo>
                <a:lnTo>
                  <a:pt x="2988574" y="2282184"/>
                </a:lnTo>
                <a:lnTo>
                  <a:pt x="0" y="22821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139404" y="3300112"/>
            <a:ext cx="18009192" cy="4742420"/>
          </a:xfrm>
          <a:custGeom>
            <a:avLst/>
            <a:gdLst/>
            <a:ahLst/>
            <a:cxnLst/>
            <a:rect l="l" t="t" r="r" b="b"/>
            <a:pathLst>
              <a:path w="18009192" h="4742420">
                <a:moveTo>
                  <a:pt x="0" y="0"/>
                </a:moveTo>
                <a:lnTo>
                  <a:pt x="18009192" y="0"/>
                </a:lnTo>
                <a:lnTo>
                  <a:pt x="18009192" y="4742420"/>
                </a:lnTo>
                <a:lnTo>
                  <a:pt x="0" y="4742420"/>
                </a:lnTo>
                <a:lnTo>
                  <a:pt x="0" y="0"/>
                </a:lnTo>
                <a:close/>
              </a:path>
            </a:pathLst>
          </a:custGeom>
          <a:blipFill>
            <a:blip r:embed="rId3"/>
            <a:stretch>
              <a:fillRect/>
            </a:stretch>
          </a:blipFill>
        </p:spPr>
        <p:txBody>
          <a:bodyPr/>
          <a:lstStyle/>
          <a:p>
            <a:endParaRPr lang="en-ZA"/>
          </a:p>
        </p:txBody>
      </p:sp>
      <p:sp>
        <p:nvSpPr>
          <p:cNvPr id="7" name="TextBox 7"/>
          <p:cNvSpPr txBox="1"/>
          <p:nvPr/>
        </p:nvSpPr>
        <p:spPr>
          <a:xfrm>
            <a:off x="282331" y="967026"/>
            <a:ext cx="7858733" cy="827169"/>
          </a:xfrm>
          <a:prstGeom prst="rect">
            <a:avLst/>
          </a:prstGeom>
        </p:spPr>
        <p:txBody>
          <a:bodyPr lIns="0" tIns="0" rIns="0" bIns="0" rtlCol="0" anchor="t">
            <a:spAutoFit/>
          </a:bodyPr>
          <a:lstStyle/>
          <a:p>
            <a:pPr algn="l">
              <a:lnSpc>
                <a:spcPts val="6408"/>
              </a:lnSpc>
            </a:pPr>
            <a:r>
              <a:rPr lang="en-US" sz="5825">
                <a:solidFill>
                  <a:srgbClr val="002566"/>
                </a:solidFill>
                <a:latin typeface="Sarabun"/>
                <a:ea typeface="Sarabun"/>
                <a:cs typeface="Sarabun"/>
                <a:sym typeface="Sarabun"/>
              </a:rPr>
              <a:t>SEQUENCE DIAGRAM</a:t>
            </a:r>
          </a:p>
        </p:txBody>
      </p:sp>
      <p:sp>
        <p:nvSpPr>
          <p:cNvPr id="8" name="TextBox 8"/>
          <p:cNvSpPr txBox="1"/>
          <p:nvPr/>
        </p:nvSpPr>
        <p:spPr>
          <a:xfrm>
            <a:off x="7508266" y="976551"/>
            <a:ext cx="7336728" cy="838200"/>
          </a:xfrm>
          <a:prstGeom prst="rect">
            <a:avLst/>
          </a:prstGeom>
        </p:spPr>
        <p:txBody>
          <a:bodyPr lIns="0" tIns="0" rIns="0" bIns="0" rtlCol="0" anchor="t">
            <a:spAutoFit/>
          </a:bodyPr>
          <a:lstStyle/>
          <a:p>
            <a:pPr algn="l">
              <a:lnSpc>
                <a:spcPts val="6599"/>
              </a:lnSpc>
            </a:pPr>
            <a:r>
              <a:rPr lang="en-US" sz="5999">
                <a:solidFill>
                  <a:srgbClr val="002566"/>
                </a:solidFill>
                <a:latin typeface="Sarabun"/>
                <a:ea typeface="Sarabun"/>
                <a:cs typeface="Sarabun"/>
                <a:sym typeface="Sarabun"/>
              </a:rPr>
              <a:t>Complete work item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546313" y="-140317"/>
            <a:ext cx="19174567" cy="10427317"/>
            <a:chOff x="0" y="0"/>
            <a:chExt cx="5050092" cy="2746289"/>
          </a:xfrm>
        </p:grpSpPr>
        <p:sp>
          <p:nvSpPr>
            <p:cNvPr id="3" name="Freeform 3"/>
            <p:cNvSpPr/>
            <p:nvPr/>
          </p:nvSpPr>
          <p:spPr>
            <a:xfrm>
              <a:off x="0" y="0"/>
              <a:ext cx="5050092" cy="2746289"/>
            </a:xfrm>
            <a:custGeom>
              <a:avLst/>
              <a:gdLst/>
              <a:ahLst/>
              <a:cxnLst/>
              <a:rect l="l" t="t" r="r" b="b"/>
              <a:pathLst>
                <a:path w="5050092" h="2746289">
                  <a:moveTo>
                    <a:pt x="20592" y="0"/>
                  </a:moveTo>
                  <a:lnTo>
                    <a:pt x="5029500" y="0"/>
                  </a:lnTo>
                  <a:cubicBezTo>
                    <a:pt x="5034961" y="0"/>
                    <a:pt x="5040199" y="2169"/>
                    <a:pt x="5044061" y="6031"/>
                  </a:cubicBezTo>
                  <a:cubicBezTo>
                    <a:pt x="5047922" y="9893"/>
                    <a:pt x="5050092" y="15130"/>
                    <a:pt x="5050092" y="20592"/>
                  </a:cubicBezTo>
                  <a:lnTo>
                    <a:pt x="5050092" y="2725697"/>
                  </a:lnTo>
                  <a:cubicBezTo>
                    <a:pt x="5050092" y="2731159"/>
                    <a:pt x="5047922" y="2736396"/>
                    <a:pt x="5044061" y="2740258"/>
                  </a:cubicBezTo>
                  <a:cubicBezTo>
                    <a:pt x="5040199" y="2744120"/>
                    <a:pt x="5034961" y="2746289"/>
                    <a:pt x="5029500" y="2746289"/>
                  </a:cubicBezTo>
                  <a:lnTo>
                    <a:pt x="20592" y="2746289"/>
                  </a:lnTo>
                  <a:cubicBezTo>
                    <a:pt x="15130" y="2746289"/>
                    <a:pt x="9893" y="2744120"/>
                    <a:pt x="6031" y="2740258"/>
                  </a:cubicBezTo>
                  <a:cubicBezTo>
                    <a:pt x="2169" y="2736396"/>
                    <a:pt x="0" y="2731159"/>
                    <a:pt x="0" y="2725697"/>
                  </a:cubicBezTo>
                  <a:lnTo>
                    <a:pt x="0" y="20592"/>
                  </a:lnTo>
                  <a:cubicBezTo>
                    <a:pt x="0" y="15130"/>
                    <a:pt x="2169" y="9893"/>
                    <a:pt x="6031" y="6031"/>
                  </a:cubicBezTo>
                  <a:cubicBezTo>
                    <a:pt x="9893" y="2169"/>
                    <a:pt x="15130" y="0"/>
                    <a:pt x="20592" y="0"/>
                  </a:cubicBezTo>
                  <a:close/>
                </a:path>
              </a:pathLst>
            </a:custGeom>
            <a:solidFill>
              <a:srgbClr val="002566"/>
            </a:solidFill>
          </p:spPr>
          <p:txBody>
            <a:bodyPr/>
            <a:lstStyle/>
            <a:p>
              <a:endParaRPr lang="en-ZA"/>
            </a:p>
          </p:txBody>
        </p:sp>
        <p:sp>
          <p:nvSpPr>
            <p:cNvPr id="4" name="TextBox 4"/>
            <p:cNvSpPr txBox="1"/>
            <p:nvPr/>
          </p:nvSpPr>
          <p:spPr>
            <a:xfrm>
              <a:off x="0" y="-28575"/>
              <a:ext cx="5050092" cy="277486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142446"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1116854" y="1297805"/>
            <a:ext cx="16142446" cy="8725331"/>
          </a:xfrm>
          <a:custGeom>
            <a:avLst/>
            <a:gdLst/>
            <a:ahLst/>
            <a:cxnLst/>
            <a:rect l="l" t="t" r="r" b="b"/>
            <a:pathLst>
              <a:path w="16142446" h="8725331">
                <a:moveTo>
                  <a:pt x="0" y="0"/>
                </a:moveTo>
                <a:lnTo>
                  <a:pt x="16142446" y="0"/>
                </a:lnTo>
                <a:lnTo>
                  <a:pt x="16142446" y="8725331"/>
                </a:lnTo>
                <a:lnTo>
                  <a:pt x="0" y="8725331"/>
                </a:lnTo>
                <a:lnTo>
                  <a:pt x="0" y="0"/>
                </a:lnTo>
                <a:close/>
              </a:path>
            </a:pathLst>
          </a:custGeom>
          <a:blipFill>
            <a:blip r:embed="rId3"/>
            <a:stretch>
              <a:fillRect/>
            </a:stretch>
          </a:blipFill>
        </p:spPr>
        <p:txBody>
          <a:bodyPr/>
          <a:lstStyle/>
          <a:p>
            <a:endParaRPr lang="en-ZA"/>
          </a:p>
        </p:txBody>
      </p:sp>
      <p:sp>
        <p:nvSpPr>
          <p:cNvPr id="7" name="TextBox 7"/>
          <p:cNvSpPr txBox="1"/>
          <p:nvPr/>
        </p:nvSpPr>
        <p:spPr>
          <a:xfrm>
            <a:off x="5971555" y="226014"/>
            <a:ext cx="6433045" cy="941700"/>
          </a:xfrm>
          <a:prstGeom prst="rect">
            <a:avLst/>
          </a:prstGeom>
        </p:spPr>
        <p:txBody>
          <a:bodyPr lIns="0" tIns="0" rIns="0" bIns="0" rtlCol="0" anchor="t">
            <a:spAutoFit/>
          </a:bodyPr>
          <a:lstStyle/>
          <a:p>
            <a:pPr algn="l">
              <a:lnSpc>
                <a:spcPts val="7314"/>
              </a:lnSpc>
            </a:pPr>
            <a:r>
              <a:rPr lang="en-US" sz="6649" b="1">
                <a:solidFill>
                  <a:srgbClr val="FFFFFF"/>
                </a:solidFill>
                <a:latin typeface="Sarabun Bold"/>
                <a:ea typeface="Sarabun Bold"/>
                <a:cs typeface="Sarabun Bold"/>
                <a:sym typeface="Sarabun Bold"/>
              </a:rPr>
              <a:t>CLASS DIAGRAM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71617" y="2498439"/>
            <a:ext cx="10603163" cy="6308916"/>
            <a:chOff x="0" y="0"/>
            <a:chExt cx="2792603" cy="1661607"/>
          </a:xfrm>
        </p:grpSpPr>
        <p:sp>
          <p:nvSpPr>
            <p:cNvPr id="3" name="Freeform 3"/>
            <p:cNvSpPr/>
            <p:nvPr/>
          </p:nvSpPr>
          <p:spPr>
            <a:xfrm>
              <a:off x="0" y="0"/>
              <a:ext cx="2792603" cy="1661607"/>
            </a:xfrm>
            <a:custGeom>
              <a:avLst/>
              <a:gdLst/>
              <a:ahLst/>
              <a:cxnLst/>
              <a:rect l="l" t="t" r="r" b="b"/>
              <a:pathLst>
                <a:path w="2792603" h="1661607">
                  <a:moveTo>
                    <a:pt x="37238" y="0"/>
                  </a:moveTo>
                  <a:lnTo>
                    <a:pt x="2755365" y="0"/>
                  </a:lnTo>
                  <a:cubicBezTo>
                    <a:pt x="2775931" y="0"/>
                    <a:pt x="2792603" y="16672"/>
                    <a:pt x="2792603" y="37238"/>
                  </a:cubicBezTo>
                  <a:lnTo>
                    <a:pt x="2792603" y="1624370"/>
                  </a:lnTo>
                  <a:cubicBezTo>
                    <a:pt x="2792603" y="1644936"/>
                    <a:pt x="2775931" y="1661607"/>
                    <a:pt x="2755365" y="1661607"/>
                  </a:cubicBezTo>
                  <a:lnTo>
                    <a:pt x="37238" y="1661607"/>
                  </a:lnTo>
                  <a:cubicBezTo>
                    <a:pt x="16672" y="1661607"/>
                    <a:pt x="0" y="1644936"/>
                    <a:pt x="0" y="1624370"/>
                  </a:cubicBezTo>
                  <a:lnTo>
                    <a:pt x="0" y="37238"/>
                  </a:lnTo>
                  <a:cubicBezTo>
                    <a:pt x="0" y="16672"/>
                    <a:pt x="16672" y="0"/>
                    <a:pt x="37238" y="0"/>
                  </a:cubicBezTo>
                  <a:close/>
                </a:path>
              </a:pathLst>
            </a:custGeom>
            <a:solidFill>
              <a:srgbClr val="002566"/>
            </a:solidFill>
          </p:spPr>
          <p:txBody>
            <a:bodyPr/>
            <a:lstStyle/>
            <a:p>
              <a:endParaRPr lang="en-ZA"/>
            </a:p>
          </p:txBody>
        </p:sp>
        <p:sp>
          <p:nvSpPr>
            <p:cNvPr id="4" name="TextBox 4"/>
            <p:cNvSpPr txBox="1"/>
            <p:nvPr/>
          </p:nvSpPr>
          <p:spPr>
            <a:xfrm>
              <a:off x="0" y="-28575"/>
              <a:ext cx="2792603" cy="169018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729168" y="2787609"/>
            <a:ext cx="9488063" cy="5730576"/>
          </a:xfrm>
          <a:custGeom>
            <a:avLst/>
            <a:gdLst/>
            <a:ahLst/>
            <a:cxnLst/>
            <a:rect l="l" t="t" r="r" b="b"/>
            <a:pathLst>
              <a:path w="9488063" h="5730576">
                <a:moveTo>
                  <a:pt x="0" y="0"/>
                </a:moveTo>
                <a:lnTo>
                  <a:pt x="9488062" y="0"/>
                </a:lnTo>
                <a:lnTo>
                  <a:pt x="9488062" y="5730576"/>
                </a:lnTo>
                <a:lnTo>
                  <a:pt x="0" y="5730576"/>
                </a:lnTo>
                <a:lnTo>
                  <a:pt x="0" y="0"/>
                </a:lnTo>
                <a:close/>
              </a:path>
            </a:pathLst>
          </a:custGeom>
          <a:blipFill>
            <a:blip r:embed="rId4"/>
            <a:stretch>
              <a:fillRect r="-2345"/>
            </a:stretch>
          </a:blipFill>
        </p:spPr>
        <p:txBody>
          <a:bodyPr/>
          <a:lstStyle/>
          <a:p>
            <a:endParaRPr lang="en-ZA"/>
          </a:p>
        </p:txBody>
      </p:sp>
      <p:sp>
        <p:nvSpPr>
          <p:cNvPr id="8" name="TextBox 8"/>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FACADE</a:t>
            </a:r>
          </a:p>
        </p:txBody>
      </p:sp>
      <p:sp>
        <p:nvSpPr>
          <p:cNvPr id="9" name="TextBox 9"/>
          <p:cNvSpPr txBox="1"/>
          <p:nvPr/>
        </p:nvSpPr>
        <p:spPr>
          <a:xfrm>
            <a:off x="10774781" y="393068"/>
            <a:ext cx="7513219" cy="779272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 DefinitionRegistry, WorkflowInstance, TaskRouter, EventPublisher, CommandProcessor, SnapshotHistory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A workflow system has many subsystems (definitions, instances, etc). If clients called each one directly, they would need to know the engine’s internal structure.</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One entry point offers simple operations to create, start and check a workflow, and coordinates the subsystems behind it. Clients never need to know the internal structure or the order of calls.</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 subsystems behind the entry point can be anything and can change freely. In the university scenario, the enrolment process only ever talks to this one entry point to create an application, start it and check its status.</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2498439"/>
            <a:ext cx="10920734" cy="6308916"/>
            <a:chOff x="0" y="0"/>
            <a:chExt cx="2876243" cy="1661607"/>
          </a:xfrm>
        </p:grpSpPr>
        <p:sp>
          <p:nvSpPr>
            <p:cNvPr id="3" name="Freeform 3"/>
            <p:cNvSpPr/>
            <p:nvPr/>
          </p:nvSpPr>
          <p:spPr>
            <a:xfrm>
              <a:off x="0" y="0"/>
              <a:ext cx="2876243" cy="1661607"/>
            </a:xfrm>
            <a:custGeom>
              <a:avLst/>
              <a:gdLst/>
              <a:ahLst/>
              <a:cxnLst/>
              <a:rect l="l" t="t" r="r" b="b"/>
              <a:pathLst>
                <a:path w="2876243" h="1661607">
                  <a:moveTo>
                    <a:pt x="36155" y="0"/>
                  </a:moveTo>
                  <a:lnTo>
                    <a:pt x="2840088" y="0"/>
                  </a:lnTo>
                  <a:cubicBezTo>
                    <a:pt x="2849677" y="0"/>
                    <a:pt x="2858873" y="3809"/>
                    <a:pt x="2865653" y="10590"/>
                  </a:cubicBezTo>
                  <a:cubicBezTo>
                    <a:pt x="2872434" y="17370"/>
                    <a:pt x="2876243" y="26566"/>
                    <a:pt x="2876243" y="36155"/>
                  </a:cubicBezTo>
                  <a:lnTo>
                    <a:pt x="2876243" y="1625453"/>
                  </a:lnTo>
                  <a:cubicBezTo>
                    <a:pt x="2876243" y="1635041"/>
                    <a:pt x="2872434" y="1644238"/>
                    <a:pt x="2865653" y="1651018"/>
                  </a:cubicBezTo>
                  <a:cubicBezTo>
                    <a:pt x="2858873" y="1657798"/>
                    <a:pt x="2849677" y="1661607"/>
                    <a:pt x="2840088" y="1661607"/>
                  </a:cubicBezTo>
                  <a:lnTo>
                    <a:pt x="36155" y="1661607"/>
                  </a:lnTo>
                  <a:cubicBezTo>
                    <a:pt x="26566" y="1661607"/>
                    <a:pt x="17370" y="1657798"/>
                    <a:pt x="10590" y="1651018"/>
                  </a:cubicBezTo>
                  <a:cubicBezTo>
                    <a:pt x="3809" y="1644238"/>
                    <a:pt x="0" y="1635041"/>
                    <a:pt x="0" y="1625453"/>
                  </a:cubicBezTo>
                  <a:lnTo>
                    <a:pt x="0" y="36155"/>
                  </a:lnTo>
                  <a:cubicBezTo>
                    <a:pt x="0" y="26566"/>
                    <a:pt x="3809" y="17370"/>
                    <a:pt x="10590" y="10590"/>
                  </a:cubicBezTo>
                  <a:cubicBezTo>
                    <a:pt x="17370" y="3809"/>
                    <a:pt x="26566" y="0"/>
                    <a:pt x="36155" y="0"/>
                  </a:cubicBezTo>
                  <a:close/>
                </a:path>
              </a:pathLst>
            </a:custGeom>
            <a:solidFill>
              <a:srgbClr val="002566"/>
            </a:solidFill>
          </p:spPr>
          <p:txBody>
            <a:bodyPr/>
            <a:lstStyle/>
            <a:p>
              <a:endParaRPr lang="en-ZA"/>
            </a:p>
          </p:txBody>
        </p:sp>
        <p:sp>
          <p:nvSpPr>
            <p:cNvPr id="4" name="TextBox 4"/>
            <p:cNvSpPr txBox="1"/>
            <p:nvPr/>
          </p:nvSpPr>
          <p:spPr>
            <a:xfrm>
              <a:off x="0" y="-28575"/>
              <a:ext cx="2876243" cy="169018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TextBox 7"/>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BUILDER</a:t>
            </a:r>
          </a:p>
        </p:txBody>
      </p:sp>
      <p:sp>
        <p:nvSpPr>
          <p:cNvPr id="8" name="TextBox 8"/>
          <p:cNvSpPr txBox="1"/>
          <p:nvPr/>
        </p:nvSpPr>
        <p:spPr>
          <a:xfrm>
            <a:off x="10920734" y="393068"/>
            <a:ext cx="7367266" cy="7402195"/>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EnrolmentDirector, DefinitionBuilder, CodeDefinitionBuilder, WorkflowDefiniton, DefinitionRegistry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 </a:t>
            </a:r>
            <a:r>
              <a:rPr lang="en-US" sz="2200">
                <a:solidFill>
                  <a:srgbClr val="000000"/>
                </a:solidFill>
                <a:latin typeface="Sarabun"/>
                <a:ea typeface="Sarabun"/>
                <a:cs typeface="Sarabun"/>
                <a:sym typeface="Sarabun"/>
              </a:rPr>
              <a:t>A workflow definition is a complex nested structure of stages, tasks, rules, and dependencies. Constructing it with one large constructor is error-prone.</a:t>
            </a:r>
            <a:r>
              <a:rPr lang="en-US" sz="2200" b="1">
                <a:solidFill>
                  <a:srgbClr val="000000"/>
                </a:solidFill>
                <a:latin typeface="Sarabun Bold"/>
                <a:ea typeface="Sarabun Bold"/>
                <a:cs typeface="Sarabun Bold"/>
                <a:sym typeface="Sarabun Bold"/>
              </a:rPr>
              <a:t> </a:t>
            </a:r>
          </a:p>
          <a:p>
            <a:pPr algn="l">
              <a:lnSpc>
                <a:spcPts val="3080"/>
              </a:lnSpc>
            </a:pPr>
            <a:endParaRPr lang="en-US" sz="2200" b="1">
              <a:solidFill>
                <a:srgbClr val="000000"/>
              </a:solidFill>
              <a:latin typeface="Sarabun Bold"/>
              <a:ea typeface="Sarabun Bold"/>
              <a:cs typeface="Sarabun Bold"/>
              <a:sym typeface="Sarabun Bold"/>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The definition is assembled step by step and returned as a finished product, so construction is kept separate from the structure itself.</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 builder can produce any workflow from any source. In the university scenario, all the enrolment-specific knowledge (admission, fees, registration, their tasks and approval routes) lives in one place that drives the builder.</a:t>
            </a:r>
          </a:p>
          <a:p>
            <a:pPr algn="l">
              <a:lnSpc>
                <a:spcPts val="3080"/>
              </a:lnSpc>
              <a:spcBef>
                <a:spcPct val="0"/>
              </a:spcBef>
            </a:pPr>
            <a:endParaRPr lang="en-US" sz="2200">
              <a:solidFill>
                <a:srgbClr val="000000"/>
              </a:solidFill>
              <a:latin typeface="Sarabun"/>
              <a:ea typeface="Sarabun"/>
              <a:cs typeface="Sarabun"/>
              <a:sym typeface="Sarabun"/>
            </a:endParaRPr>
          </a:p>
        </p:txBody>
      </p:sp>
      <p:sp>
        <p:nvSpPr>
          <p:cNvPr id="9" name="Freeform 9"/>
          <p:cNvSpPr/>
          <p:nvPr/>
        </p:nvSpPr>
        <p:spPr>
          <a:xfrm>
            <a:off x="231320" y="3454984"/>
            <a:ext cx="10431942" cy="4612708"/>
          </a:xfrm>
          <a:custGeom>
            <a:avLst/>
            <a:gdLst/>
            <a:ahLst/>
            <a:cxnLst/>
            <a:rect l="l" t="t" r="r" b="b"/>
            <a:pathLst>
              <a:path w="10431942" h="4612708">
                <a:moveTo>
                  <a:pt x="0" y="0"/>
                </a:moveTo>
                <a:lnTo>
                  <a:pt x="10431942" y="0"/>
                </a:lnTo>
                <a:lnTo>
                  <a:pt x="10431942" y="4612708"/>
                </a:lnTo>
                <a:lnTo>
                  <a:pt x="0" y="4612708"/>
                </a:lnTo>
                <a:lnTo>
                  <a:pt x="0" y="0"/>
                </a:lnTo>
                <a:close/>
              </a:path>
            </a:pathLst>
          </a:custGeom>
          <a:blipFill>
            <a:blip r:embed="rId4"/>
            <a:stretch>
              <a:fillRect/>
            </a:stretch>
          </a:blipFill>
        </p:spPr>
        <p:txBody>
          <a:bodyPr/>
          <a:lstStyle/>
          <a:p>
            <a:endParaRPr lang="en-Z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2498439"/>
            <a:ext cx="11037362" cy="6308916"/>
            <a:chOff x="0" y="0"/>
            <a:chExt cx="2906959" cy="1661607"/>
          </a:xfrm>
        </p:grpSpPr>
        <p:sp>
          <p:nvSpPr>
            <p:cNvPr id="3" name="Freeform 3"/>
            <p:cNvSpPr/>
            <p:nvPr/>
          </p:nvSpPr>
          <p:spPr>
            <a:xfrm>
              <a:off x="0" y="0"/>
              <a:ext cx="2906959" cy="1661607"/>
            </a:xfrm>
            <a:custGeom>
              <a:avLst/>
              <a:gdLst/>
              <a:ahLst/>
              <a:cxnLst/>
              <a:rect l="l" t="t" r="r" b="b"/>
              <a:pathLst>
                <a:path w="2906959" h="1661607">
                  <a:moveTo>
                    <a:pt x="35773" y="0"/>
                  </a:moveTo>
                  <a:lnTo>
                    <a:pt x="2871187" y="0"/>
                  </a:lnTo>
                  <a:cubicBezTo>
                    <a:pt x="2880674" y="0"/>
                    <a:pt x="2889773" y="3769"/>
                    <a:pt x="2896482" y="10478"/>
                  </a:cubicBezTo>
                  <a:cubicBezTo>
                    <a:pt x="2903190" y="17186"/>
                    <a:pt x="2906959" y="26285"/>
                    <a:pt x="2906959" y="35773"/>
                  </a:cubicBezTo>
                  <a:lnTo>
                    <a:pt x="2906959" y="1625835"/>
                  </a:lnTo>
                  <a:cubicBezTo>
                    <a:pt x="2906959" y="1635322"/>
                    <a:pt x="2903190" y="1644421"/>
                    <a:pt x="2896482" y="1651130"/>
                  </a:cubicBezTo>
                  <a:cubicBezTo>
                    <a:pt x="2889773" y="1657839"/>
                    <a:pt x="2880674" y="1661607"/>
                    <a:pt x="2871187" y="1661607"/>
                  </a:cubicBezTo>
                  <a:lnTo>
                    <a:pt x="35773" y="1661607"/>
                  </a:lnTo>
                  <a:cubicBezTo>
                    <a:pt x="26285" y="1661607"/>
                    <a:pt x="17186" y="1657839"/>
                    <a:pt x="10478" y="1651130"/>
                  </a:cubicBezTo>
                  <a:cubicBezTo>
                    <a:pt x="3769" y="1644421"/>
                    <a:pt x="0" y="1635322"/>
                    <a:pt x="0" y="1625835"/>
                  </a:cubicBezTo>
                  <a:lnTo>
                    <a:pt x="0" y="35773"/>
                  </a:lnTo>
                  <a:cubicBezTo>
                    <a:pt x="0" y="26285"/>
                    <a:pt x="3769" y="17186"/>
                    <a:pt x="10478" y="10478"/>
                  </a:cubicBezTo>
                  <a:cubicBezTo>
                    <a:pt x="17186" y="3769"/>
                    <a:pt x="26285" y="0"/>
                    <a:pt x="35773" y="0"/>
                  </a:cubicBezTo>
                  <a:close/>
                </a:path>
              </a:pathLst>
            </a:custGeom>
            <a:solidFill>
              <a:srgbClr val="002566"/>
            </a:solidFill>
          </p:spPr>
          <p:txBody>
            <a:bodyPr/>
            <a:lstStyle/>
            <a:p>
              <a:endParaRPr lang="en-ZA"/>
            </a:p>
          </p:txBody>
        </p:sp>
        <p:sp>
          <p:nvSpPr>
            <p:cNvPr id="4" name="TextBox 4"/>
            <p:cNvSpPr txBox="1"/>
            <p:nvPr/>
          </p:nvSpPr>
          <p:spPr>
            <a:xfrm>
              <a:off x="0" y="-28575"/>
              <a:ext cx="2906959" cy="169018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349078" y="3253423"/>
            <a:ext cx="10248242" cy="4681032"/>
          </a:xfrm>
          <a:custGeom>
            <a:avLst/>
            <a:gdLst/>
            <a:ahLst/>
            <a:cxnLst/>
            <a:rect l="l" t="t" r="r" b="b"/>
            <a:pathLst>
              <a:path w="10248242" h="4681032">
                <a:moveTo>
                  <a:pt x="0" y="0"/>
                </a:moveTo>
                <a:lnTo>
                  <a:pt x="10248242" y="0"/>
                </a:lnTo>
                <a:lnTo>
                  <a:pt x="10248242" y="4681031"/>
                </a:lnTo>
                <a:lnTo>
                  <a:pt x="0" y="4681031"/>
                </a:lnTo>
                <a:lnTo>
                  <a:pt x="0" y="0"/>
                </a:lnTo>
                <a:close/>
              </a:path>
            </a:pathLst>
          </a:custGeom>
          <a:blipFill>
            <a:blip r:embed="rId4"/>
            <a:stretch>
              <a:fillRect l="-332" r="-332"/>
            </a:stretch>
          </a:blipFill>
        </p:spPr>
        <p:txBody>
          <a:bodyPr/>
          <a:lstStyle/>
          <a:p>
            <a:endParaRPr lang="en-ZA"/>
          </a:p>
        </p:txBody>
      </p:sp>
      <p:sp>
        <p:nvSpPr>
          <p:cNvPr id="8" name="TextBox 8"/>
          <p:cNvSpPr txBox="1"/>
          <p:nvPr/>
        </p:nvSpPr>
        <p:spPr>
          <a:xfrm>
            <a:off x="5169028" y="507368"/>
            <a:ext cx="5751707"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PROTOTYPE</a:t>
            </a:r>
          </a:p>
        </p:txBody>
      </p:sp>
      <p:sp>
        <p:nvSpPr>
          <p:cNvPr id="9" name="TextBox 9"/>
          <p:cNvSpPr txBox="1"/>
          <p:nvPr/>
        </p:nvSpPr>
        <p:spPr>
          <a:xfrm>
            <a:off x="10920734" y="393068"/>
            <a:ext cx="7367266" cy="779272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 WorkComponent, WorkStage, ManualTask, AutomatedTask, ApprovalTask, WorkComponentDecorator, AuditorDecorator, SecureDecorator, PriorityDecorator, ValidationDecorator</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A change to one running instance should not alter every other instance created from the same definition. Each instance created from a definition needs its own copy of the structure, data, and progress.</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Each new instance is a deep copy of a stored definition, so no stage or task is shared between instances. Changes to one instance never affect another or the original.</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any stored definition can be cloned to create instances. In the university scenario, every applicant gets their own copy of the enrolment process.</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71617" y="2498439"/>
            <a:ext cx="10881191" cy="7126638"/>
            <a:chOff x="0" y="0"/>
            <a:chExt cx="2865828" cy="1876975"/>
          </a:xfrm>
        </p:grpSpPr>
        <p:sp>
          <p:nvSpPr>
            <p:cNvPr id="3" name="Freeform 3"/>
            <p:cNvSpPr/>
            <p:nvPr/>
          </p:nvSpPr>
          <p:spPr>
            <a:xfrm>
              <a:off x="0" y="0"/>
              <a:ext cx="2865828" cy="1876975"/>
            </a:xfrm>
            <a:custGeom>
              <a:avLst/>
              <a:gdLst/>
              <a:ahLst/>
              <a:cxnLst/>
              <a:rect l="l" t="t" r="r" b="b"/>
              <a:pathLst>
                <a:path w="2865828" h="1876975">
                  <a:moveTo>
                    <a:pt x="36286" y="0"/>
                  </a:moveTo>
                  <a:lnTo>
                    <a:pt x="2829542" y="0"/>
                  </a:lnTo>
                  <a:cubicBezTo>
                    <a:pt x="2849582" y="0"/>
                    <a:pt x="2865828" y="16246"/>
                    <a:pt x="2865828" y="36286"/>
                  </a:cubicBezTo>
                  <a:lnTo>
                    <a:pt x="2865828" y="1840688"/>
                  </a:lnTo>
                  <a:cubicBezTo>
                    <a:pt x="2865828" y="1850312"/>
                    <a:pt x="2862005" y="1859542"/>
                    <a:pt x="2855200" y="1866347"/>
                  </a:cubicBezTo>
                  <a:cubicBezTo>
                    <a:pt x="2848395" y="1873152"/>
                    <a:pt x="2839165" y="1876975"/>
                    <a:pt x="2829542" y="1876975"/>
                  </a:cubicBezTo>
                  <a:lnTo>
                    <a:pt x="36286" y="1876975"/>
                  </a:lnTo>
                  <a:cubicBezTo>
                    <a:pt x="16246" y="1876975"/>
                    <a:pt x="0" y="1860729"/>
                    <a:pt x="0" y="1840688"/>
                  </a:cubicBezTo>
                  <a:lnTo>
                    <a:pt x="0" y="36286"/>
                  </a:lnTo>
                  <a:cubicBezTo>
                    <a:pt x="0" y="16246"/>
                    <a:pt x="16246" y="0"/>
                    <a:pt x="36286" y="0"/>
                  </a:cubicBezTo>
                  <a:close/>
                </a:path>
              </a:pathLst>
            </a:custGeom>
            <a:solidFill>
              <a:srgbClr val="002566"/>
            </a:solidFill>
          </p:spPr>
          <p:txBody>
            <a:bodyPr/>
            <a:lstStyle/>
            <a:p>
              <a:endParaRPr lang="en-ZA"/>
            </a:p>
          </p:txBody>
        </p:sp>
        <p:sp>
          <p:nvSpPr>
            <p:cNvPr id="4" name="TextBox 4"/>
            <p:cNvSpPr txBox="1"/>
            <p:nvPr/>
          </p:nvSpPr>
          <p:spPr>
            <a:xfrm>
              <a:off x="0" y="-28575"/>
              <a:ext cx="2865828" cy="1905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347345" y="2780016"/>
            <a:ext cx="10573390" cy="6285457"/>
          </a:xfrm>
          <a:custGeom>
            <a:avLst/>
            <a:gdLst/>
            <a:ahLst/>
            <a:cxnLst/>
            <a:rect l="l" t="t" r="r" b="b"/>
            <a:pathLst>
              <a:path w="10573390" h="6285457">
                <a:moveTo>
                  <a:pt x="0" y="0"/>
                </a:moveTo>
                <a:lnTo>
                  <a:pt x="10573389" y="0"/>
                </a:lnTo>
                <a:lnTo>
                  <a:pt x="10573389" y="6285457"/>
                </a:lnTo>
                <a:lnTo>
                  <a:pt x="0" y="6285457"/>
                </a:lnTo>
                <a:lnTo>
                  <a:pt x="0" y="0"/>
                </a:lnTo>
                <a:close/>
              </a:path>
            </a:pathLst>
          </a:custGeom>
          <a:blipFill>
            <a:blip r:embed="rId4"/>
            <a:stretch>
              <a:fillRect l="-494" r="-81"/>
            </a:stretch>
          </a:blipFill>
        </p:spPr>
        <p:txBody>
          <a:bodyPr/>
          <a:lstStyle/>
          <a:p>
            <a:endParaRPr lang="en-ZA"/>
          </a:p>
        </p:txBody>
      </p:sp>
      <p:sp>
        <p:nvSpPr>
          <p:cNvPr id="8" name="TextBox 8"/>
          <p:cNvSpPr txBox="1"/>
          <p:nvPr/>
        </p:nvSpPr>
        <p:spPr>
          <a:xfrm>
            <a:off x="5481212" y="600044"/>
            <a:ext cx="5439522"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COMPOSITE</a:t>
            </a:r>
          </a:p>
        </p:txBody>
      </p:sp>
      <p:sp>
        <p:nvSpPr>
          <p:cNvPr id="9" name="TextBox 9"/>
          <p:cNvSpPr txBox="1"/>
          <p:nvPr/>
        </p:nvSpPr>
        <p:spPr>
          <a:xfrm>
            <a:off x="10920734" y="485744"/>
            <a:ext cx="7367266" cy="6621145"/>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WorkflowInstance, WorkComponent, WorkStage, ManualTask, AutomatedTask, ApprovalTask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A workflow contains stages, which contain individual work items and sub-processes, which needs to be structured accordingly.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Single tasks and groups share one interface, so the system can start, complete or query a task or a whole sub-process in the same way.</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 depth of nesting and whether a group runs in sequence or in parallel differ per process. In the university scenario, the enrolment process contains admission, fees and registration, each containing its own tasks.</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71617" y="2498439"/>
            <a:ext cx="10881191" cy="7126638"/>
            <a:chOff x="0" y="0"/>
            <a:chExt cx="2865828" cy="1876975"/>
          </a:xfrm>
        </p:grpSpPr>
        <p:sp>
          <p:nvSpPr>
            <p:cNvPr id="3" name="Freeform 3"/>
            <p:cNvSpPr/>
            <p:nvPr/>
          </p:nvSpPr>
          <p:spPr>
            <a:xfrm>
              <a:off x="0" y="0"/>
              <a:ext cx="2865828" cy="1876975"/>
            </a:xfrm>
            <a:custGeom>
              <a:avLst/>
              <a:gdLst/>
              <a:ahLst/>
              <a:cxnLst/>
              <a:rect l="l" t="t" r="r" b="b"/>
              <a:pathLst>
                <a:path w="2865828" h="1876975">
                  <a:moveTo>
                    <a:pt x="36286" y="0"/>
                  </a:moveTo>
                  <a:lnTo>
                    <a:pt x="2829542" y="0"/>
                  </a:lnTo>
                  <a:cubicBezTo>
                    <a:pt x="2849582" y="0"/>
                    <a:pt x="2865828" y="16246"/>
                    <a:pt x="2865828" y="36286"/>
                  </a:cubicBezTo>
                  <a:lnTo>
                    <a:pt x="2865828" y="1840688"/>
                  </a:lnTo>
                  <a:cubicBezTo>
                    <a:pt x="2865828" y="1850312"/>
                    <a:pt x="2862005" y="1859542"/>
                    <a:pt x="2855200" y="1866347"/>
                  </a:cubicBezTo>
                  <a:cubicBezTo>
                    <a:pt x="2848395" y="1873152"/>
                    <a:pt x="2839165" y="1876975"/>
                    <a:pt x="2829542" y="1876975"/>
                  </a:cubicBezTo>
                  <a:lnTo>
                    <a:pt x="36286" y="1876975"/>
                  </a:lnTo>
                  <a:cubicBezTo>
                    <a:pt x="16246" y="1876975"/>
                    <a:pt x="0" y="1860729"/>
                    <a:pt x="0" y="1840688"/>
                  </a:cubicBezTo>
                  <a:lnTo>
                    <a:pt x="0" y="36286"/>
                  </a:lnTo>
                  <a:cubicBezTo>
                    <a:pt x="0" y="16246"/>
                    <a:pt x="16246" y="0"/>
                    <a:pt x="36286" y="0"/>
                  </a:cubicBezTo>
                  <a:close/>
                </a:path>
              </a:pathLst>
            </a:custGeom>
            <a:solidFill>
              <a:srgbClr val="002566"/>
            </a:solidFill>
          </p:spPr>
          <p:txBody>
            <a:bodyPr/>
            <a:lstStyle/>
            <a:p>
              <a:endParaRPr lang="en-ZA"/>
            </a:p>
          </p:txBody>
        </p:sp>
        <p:sp>
          <p:nvSpPr>
            <p:cNvPr id="4" name="TextBox 4"/>
            <p:cNvSpPr txBox="1"/>
            <p:nvPr/>
          </p:nvSpPr>
          <p:spPr>
            <a:xfrm>
              <a:off x="0" y="-28575"/>
              <a:ext cx="2865828" cy="19055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780151" y="2775136"/>
            <a:ext cx="9664122" cy="6552399"/>
          </a:xfrm>
          <a:custGeom>
            <a:avLst/>
            <a:gdLst/>
            <a:ahLst/>
            <a:cxnLst/>
            <a:rect l="l" t="t" r="r" b="b"/>
            <a:pathLst>
              <a:path w="9664122" h="6552399">
                <a:moveTo>
                  <a:pt x="0" y="0"/>
                </a:moveTo>
                <a:lnTo>
                  <a:pt x="9664123" y="0"/>
                </a:lnTo>
                <a:lnTo>
                  <a:pt x="9664123" y="6552399"/>
                </a:lnTo>
                <a:lnTo>
                  <a:pt x="0" y="6552399"/>
                </a:lnTo>
                <a:lnTo>
                  <a:pt x="0" y="0"/>
                </a:lnTo>
                <a:close/>
              </a:path>
            </a:pathLst>
          </a:custGeom>
          <a:blipFill>
            <a:blip r:embed="rId4"/>
            <a:stretch>
              <a:fillRect/>
            </a:stretch>
          </a:blipFill>
        </p:spPr>
        <p:txBody>
          <a:bodyPr/>
          <a:lstStyle/>
          <a:p>
            <a:endParaRPr lang="en-ZA"/>
          </a:p>
        </p:txBody>
      </p:sp>
      <p:sp>
        <p:nvSpPr>
          <p:cNvPr id="8" name="TextBox 8"/>
          <p:cNvSpPr txBox="1"/>
          <p:nvPr/>
        </p:nvSpPr>
        <p:spPr>
          <a:xfrm>
            <a:off x="5667388" y="615490"/>
            <a:ext cx="5439522"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ITERATOR</a:t>
            </a:r>
          </a:p>
        </p:txBody>
      </p:sp>
      <p:sp>
        <p:nvSpPr>
          <p:cNvPr id="9" name="TextBox 9"/>
          <p:cNvSpPr txBox="1"/>
          <p:nvPr/>
        </p:nvSpPr>
        <p:spPr>
          <a:xfrm>
            <a:off x="10920734" y="501190"/>
            <a:ext cx="7367266" cy="7402195"/>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WorkComponent, WorkStage, WorkIterator, DepthFirstIterator, ReadyTaskIterator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Parts of the system need to go through the work in a workflow, such as finding the next available item or showing progress, but the work is stored as a nested tree structure.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Clients step through the work with a standard interface without seeing how groups store their children. </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 traversal order and the storage of the groups can vary. In the university scenario, one traversal finds the application tasks that are available to be picked up, and another walks the whole enrolment process to show an applicant’s progress.</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2498439"/>
            <a:ext cx="11048057" cy="6308916"/>
            <a:chOff x="0" y="0"/>
            <a:chExt cx="2909776" cy="1661607"/>
          </a:xfrm>
        </p:grpSpPr>
        <p:sp>
          <p:nvSpPr>
            <p:cNvPr id="3" name="Freeform 3"/>
            <p:cNvSpPr/>
            <p:nvPr/>
          </p:nvSpPr>
          <p:spPr>
            <a:xfrm>
              <a:off x="0" y="0"/>
              <a:ext cx="2909776" cy="1661607"/>
            </a:xfrm>
            <a:custGeom>
              <a:avLst/>
              <a:gdLst/>
              <a:ahLst/>
              <a:cxnLst/>
              <a:rect l="l" t="t" r="r" b="b"/>
              <a:pathLst>
                <a:path w="2909776" h="1661607">
                  <a:moveTo>
                    <a:pt x="35738" y="0"/>
                  </a:moveTo>
                  <a:lnTo>
                    <a:pt x="2874038" y="0"/>
                  </a:lnTo>
                  <a:cubicBezTo>
                    <a:pt x="2883516" y="0"/>
                    <a:pt x="2892607" y="3765"/>
                    <a:pt x="2899309" y="10467"/>
                  </a:cubicBezTo>
                  <a:cubicBezTo>
                    <a:pt x="2906011" y="17170"/>
                    <a:pt x="2909776" y="26260"/>
                    <a:pt x="2909776" y="35738"/>
                  </a:cubicBezTo>
                  <a:lnTo>
                    <a:pt x="2909776" y="1625869"/>
                  </a:lnTo>
                  <a:cubicBezTo>
                    <a:pt x="2909776" y="1645607"/>
                    <a:pt x="2893776" y="1661607"/>
                    <a:pt x="2874038" y="1661607"/>
                  </a:cubicBezTo>
                  <a:lnTo>
                    <a:pt x="35738" y="1661607"/>
                  </a:lnTo>
                  <a:cubicBezTo>
                    <a:pt x="16001" y="1661607"/>
                    <a:pt x="0" y="1645607"/>
                    <a:pt x="0" y="1625869"/>
                  </a:cubicBezTo>
                  <a:lnTo>
                    <a:pt x="0" y="35738"/>
                  </a:lnTo>
                  <a:cubicBezTo>
                    <a:pt x="0" y="16001"/>
                    <a:pt x="16001" y="0"/>
                    <a:pt x="35738" y="0"/>
                  </a:cubicBezTo>
                  <a:close/>
                </a:path>
              </a:pathLst>
            </a:custGeom>
            <a:solidFill>
              <a:srgbClr val="002566"/>
            </a:solidFill>
          </p:spPr>
          <p:txBody>
            <a:bodyPr/>
            <a:lstStyle/>
            <a:p>
              <a:endParaRPr lang="en-ZA"/>
            </a:p>
          </p:txBody>
        </p:sp>
        <p:sp>
          <p:nvSpPr>
            <p:cNvPr id="4" name="TextBox 4"/>
            <p:cNvSpPr txBox="1"/>
            <p:nvPr/>
          </p:nvSpPr>
          <p:spPr>
            <a:xfrm>
              <a:off x="0" y="-28575"/>
              <a:ext cx="2909776" cy="169018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9760"/>
            <a:ext cx="2142187" cy="3375940"/>
          </a:xfrm>
          <a:custGeom>
            <a:avLst/>
            <a:gdLst/>
            <a:ahLst/>
            <a:cxnLst/>
            <a:rect l="l" t="t" r="r" b="b"/>
            <a:pathLst>
              <a:path w="2142187" h="3375940">
                <a:moveTo>
                  <a:pt x="0" y="0"/>
                </a:moveTo>
                <a:lnTo>
                  <a:pt x="2142188" y="0"/>
                </a:lnTo>
                <a:lnTo>
                  <a:pt x="2142188" y="3375940"/>
                </a:lnTo>
                <a:lnTo>
                  <a:pt x="0" y="337594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132256" y="2988332"/>
            <a:ext cx="10788479" cy="5316645"/>
          </a:xfrm>
          <a:custGeom>
            <a:avLst/>
            <a:gdLst/>
            <a:ahLst/>
            <a:cxnLst/>
            <a:rect l="l" t="t" r="r" b="b"/>
            <a:pathLst>
              <a:path w="10788479" h="5316645">
                <a:moveTo>
                  <a:pt x="0" y="0"/>
                </a:moveTo>
                <a:lnTo>
                  <a:pt x="10788478" y="0"/>
                </a:lnTo>
                <a:lnTo>
                  <a:pt x="10788478" y="5316645"/>
                </a:lnTo>
                <a:lnTo>
                  <a:pt x="0" y="5316645"/>
                </a:lnTo>
                <a:lnTo>
                  <a:pt x="0" y="0"/>
                </a:lnTo>
                <a:close/>
              </a:path>
            </a:pathLst>
          </a:custGeom>
          <a:blipFill>
            <a:blip r:embed="rId4"/>
            <a:stretch>
              <a:fillRect l="-578" r="-292" b="-581"/>
            </a:stretch>
          </a:blipFill>
        </p:spPr>
        <p:txBody>
          <a:bodyPr/>
          <a:lstStyle/>
          <a:p>
            <a:endParaRPr lang="en-ZA"/>
          </a:p>
        </p:txBody>
      </p:sp>
      <p:sp>
        <p:nvSpPr>
          <p:cNvPr id="8" name="TextBox 8"/>
          <p:cNvSpPr txBox="1"/>
          <p:nvPr/>
        </p:nvSpPr>
        <p:spPr>
          <a:xfrm>
            <a:off x="5251428" y="507368"/>
            <a:ext cx="5669306"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DECORATOR</a:t>
            </a:r>
          </a:p>
        </p:txBody>
      </p:sp>
      <p:sp>
        <p:nvSpPr>
          <p:cNvPr id="9" name="TextBox 9"/>
          <p:cNvSpPr txBox="1"/>
          <p:nvPr/>
        </p:nvSpPr>
        <p:spPr>
          <a:xfrm>
            <a:off x="10920734" y="393068"/>
            <a:ext cx="7367266" cy="779272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WorkComponent, ManualTask, AutomatedTask, ApprovalTask, WorkComponentDecorator, AuditDecorator, SecureDecorator, PriorityDecorator, ValidationDecorator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Different tasks need different additional functionality, such as validation, priority handling, auditing, notifications, or security, and often multiple at once.</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A task is wrapped in a decorator that has the same interface. Behaviours can be combined freely, and a new one is just one new decorator with no change to existing tasks.</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any combination of behaviours can differ per task. In the university scenario, a task like paying a fee might be audited, while confirming registration might notify the applicant.</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71617" y="2282196"/>
            <a:ext cx="10603163" cy="6710511"/>
            <a:chOff x="0" y="0"/>
            <a:chExt cx="2792603" cy="1767377"/>
          </a:xfrm>
        </p:grpSpPr>
        <p:sp>
          <p:nvSpPr>
            <p:cNvPr id="3" name="Freeform 3"/>
            <p:cNvSpPr/>
            <p:nvPr/>
          </p:nvSpPr>
          <p:spPr>
            <a:xfrm>
              <a:off x="0" y="0"/>
              <a:ext cx="2792603" cy="1767377"/>
            </a:xfrm>
            <a:custGeom>
              <a:avLst/>
              <a:gdLst/>
              <a:ahLst/>
              <a:cxnLst/>
              <a:rect l="l" t="t" r="r" b="b"/>
              <a:pathLst>
                <a:path w="2792603" h="1767377">
                  <a:moveTo>
                    <a:pt x="37238" y="0"/>
                  </a:moveTo>
                  <a:lnTo>
                    <a:pt x="2755365" y="0"/>
                  </a:lnTo>
                  <a:cubicBezTo>
                    <a:pt x="2775931" y="0"/>
                    <a:pt x="2792603" y="16672"/>
                    <a:pt x="2792603" y="37238"/>
                  </a:cubicBezTo>
                  <a:lnTo>
                    <a:pt x="2792603" y="1730140"/>
                  </a:lnTo>
                  <a:cubicBezTo>
                    <a:pt x="2792603" y="1750705"/>
                    <a:pt x="2775931" y="1767377"/>
                    <a:pt x="2755365" y="1767377"/>
                  </a:cubicBezTo>
                  <a:lnTo>
                    <a:pt x="37238" y="1767377"/>
                  </a:lnTo>
                  <a:cubicBezTo>
                    <a:pt x="16672" y="1767377"/>
                    <a:pt x="0" y="1750705"/>
                    <a:pt x="0" y="1730140"/>
                  </a:cubicBezTo>
                  <a:lnTo>
                    <a:pt x="0" y="37238"/>
                  </a:lnTo>
                  <a:cubicBezTo>
                    <a:pt x="0" y="16672"/>
                    <a:pt x="16672" y="0"/>
                    <a:pt x="37238" y="0"/>
                  </a:cubicBezTo>
                  <a:close/>
                </a:path>
              </a:pathLst>
            </a:custGeom>
            <a:solidFill>
              <a:srgbClr val="002566"/>
            </a:solidFill>
          </p:spPr>
          <p:txBody>
            <a:bodyPr/>
            <a:lstStyle/>
            <a:p>
              <a:endParaRPr lang="en-ZA"/>
            </a:p>
          </p:txBody>
        </p:sp>
        <p:sp>
          <p:nvSpPr>
            <p:cNvPr id="4" name="TextBox 4"/>
            <p:cNvSpPr txBox="1"/>
            <p:nvPr/>
          </p:nvSpPr>
          <p:spPr>
            <a:xfrm>
              <a:off x="0" y="-28575"/>
              <a:ext cx="2792603" cy="179595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919433" y="2614068"/>
            <a:ext cx="9060558" cy="6077658"/>
          </a:xfrm>
          <a:custGeom>
            <a:avLst/>
            <a:gdLst/>
            <a:ahLst/>
            <a:cxnLst/>
            <a:rect l="l" t="t" r="r" b="b"/>
            <a:pathLst>
              <a:path w="9060558" h="6077658">
                <a:moveTo>
                  <a:pt x="0" y="0"/>
                </a:moveTo>
                <a:lnTo>
                  <a:pt x="9060559" y="0"/>
                </a:lnTo>
                <a:lnTo>
                  <a:pt x="9060559" y="6077658"/>
                </a:lnTo>
                <a:lnTo>
                  <a:pt x="0" y="6077658"/>
                </a:lnTo>
                <a:lnTo>
                  <a:pt x="0" y="0"/>
                </a:lnTo>
                <a:close/>
              </a:path>
            </a:pathLst>
          </a:custGeom>
          <a:blipFill>
            <a:blip r:embed="rId4"/>
            <a:stretch>
              <a:fillRect/>
            </a:stretch>
          </a:blipFill>
        </p:spPr>
        <p:txBody>
          <a:bodyPr/>
          <a:lstStyle/>
          <a:p>
            <a:endParaRPr lang="en-ZA"/>
          </a:p>
        </p:txBody>
      </p:sp>
      <p:sp>
        <p:nvSpPr>
          <p:cNvPr id="8" name="TextBox 8"/>
          <p:cNvSpPr txBox="1"/>
          <p:nvPr/>
        </p:nvSpPr>
        <p:spPr>
          <a:xfrm>
            <a:off x="5169028" y="507368"/>
            <a:ext cx="5751707"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TEMPLATE</a:t>
            </a:r>
          </a:p>
        </p:txBody>
      </p:sp>
      <p:sp>
        <p:nvSpPr>
          <p:cNvPr id="9" name="TextBox 9"/>
          <p:cNvSpPr txBox="1"/>
          <p:nvPr/>
        </p:nvSpPr>
        <p:spPr>
          <a:xfrm>
            <a:off x="10774781" y="456021"/>
            <a:ext cx="7513219" cy="70116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WorkItem, ManualTask, AutomatedTask, ApprovalTask </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Every workflow instance runs through the same overall execution steps, but the details of some steps differ per process.</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The base class fixes the execution order once, and subclasses override only the step that does the actual work.</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 step that differs per task type can be anything. In the university scenario, a manual task such as assessing an application waits for a staff member, an automated task such as charging a fee calls the payment service, and an approval task sends the application up the approval chain.</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140731" y="2809393"/>
            <a:ext cx="9487039" cy="6354941"/>
            <a:chOff x="0" y="0"/>
            <a:chExt cx="2498644" cy="1673729"/>
          </a:xfrm>
        </p:grpSpPr>
        <p:sp>
          <p:nvSpPr>
            <p:cNvPr id="3" name="Freeform 3"/>
            <p:cNvSpPr/>
            <p:nvPr/>
          </p:nvSpPr>
          <p:spPr>
            <a:xfrm>
              <a:off x="0" y="0"/>
              <a:ext cx="2498644" cy="1673729"/>
            </a:xfrm>
            <a:custGeom>
              <a:avLst/>
              <a:gdLst/>
              <a:ahLst/>
              <a:cxnLst/>
              <a:rect l="l" t="t" r="r" b="b"/>
              <a:pathLst>
                <a:path w="2498644" h="1673729">
                  <a:moveTo>
                    <a:pt x="41619" y="0"/>
                  </a:moveTo>
                  <a:lnTo>
                    <a:pt x="2457025" y="0"/>
                  </a:lnTo>
                  <a:cubicBezTo>
                    <a:pt x="2468063" y="0"/>
                    <a:pt x="2478649" y="4385"/>
                    <a:pt x="2486454" y="12190"/>
                  </a:cubicBezTo>
                  <a:cubicBezTo>
                    <a:pt x="2494259" y="19995"/>
                    <a:pt x="2498644" y="30581"/>
                    <a:pt x="2498644" y="41619"/>
                  </a:cubicBezTo>
                  <a:lnTo>
                    <a:pt x="2498644" y="1632111"/>
                  </a:lnTo>
                  <a:cubicBezTo>
                    <a:pt x="2498644" y="1655096"/>
                    <a:pt x="2480011" y="1673729"/>
                    <a:pt x="2457025" y="1673729"/>
                  </a:cubicBezTo>
                  <a:lnTo>
                    <a:pt x="41619" y="1673729"/>
                  </a:lnTo>
                  <a:cubicBezTo>
                    <a:pt x="18633" y="1673729"/>
                    <a:pt x="0" y="1655096"/>
                    <a:pt x="0" y="1632111"/>
                  </a:cubicBezTo>
                  <a:lnTo>
                    <a:pt x="0" y="41619"/>
                  </a:lnTo>
                  <a:cubicBezTo>
                    <a:pt x="0" y="18633"/>
                    <a:pt x="18633" y="0"/>
                    <a:pt x="41619" y="0"/>
                  </a:cubicBezTo>
                  <a:close/>
                </a:path>
              </a:pathLst>
            </a:custGeom>
            <a:solidFill>
              <a:srgbClr val="002566"/>
            </a:solidFill>
          </p:spPr>
          <p:txBody>
            <a:bodyPr/>
            <a:lstStyle/>
            <a:p>
              <a:endParaRPr lang="en-ZA"/>
            </a:p>
          </p:txBody>
        </p:sp>
        <p:sp>
          <p:nvSpPr>
            <p:cNvPr id="4" name="TextBox 4"/>
            <p:cNvSpPr txBox="1"/>
            <p:nvPr/>
          </p:nvSpPr>
          <p:spPr>
            <a:xfrm>
              <a:off x="0" y="-28575"/>
              <a:ext cx="2498644" cy="170230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283804" y="2905518"/>
            <a:ext cx="9200893" cy="6162692"/>
          </a:xfrm>
          <a:custGeom>
            <a:avLst/>
            <a:gdLst/>
            <a:ahLst/>
            <a:cxnLst/>
            <a:rect l="l" t="t" r="r" b="b"/>
            <a:pathLst>
              <a:path w="9200893" h="6162692">
                <a:moveTo>
                  <a:pt x="0" y="0"/>
                </a:moveTo>
                <a:lnTo>
                  <a:pt x="9200894" y="0"/>
                </a:lnTo>
                <a:lnTo>
                  <a:pt x="9200894" y="6162692"/>
                </a:lnTo>
                <a:lnTo>
                  <a:pt x="0" y="6162692"/>
                </a:lnTo>
                <a:lnTo>
                  <a:pt x="0" y="0"/>
                </a:lnTo>
                <a:close/>
              </a:path>
            </a:pathLst>
          </a:custGeom>
          <a:blipFill>
            <a:blip r:embed="rId4"/>
            <a:stretch>
              <a:fillRect t="-243" r="-162"/>
            </a:stretch>
          </a:blipFill>
        </p:spPr>
        <p:txBody>
          <a:bodyPr/>
          <a:lstStyle/>
          <a:p>
            <a:endParaRPr lang="en-ZA"/>
          </a:p>
        </p:txBody>
      </p:sp>
      <p:sp>
        <p:nvSpPr>
          <p:cNvPr id="8" name="TextBox 8"/>
          <p:cNvSpPr txBox="1"/>
          <p:nvPr/>
        </p:nvSpPr>
        <p:spPr>
          <a:xfrm>
            <a:off x="6925646" y="507368"/>
            <a:ext cx="338208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STATE</a:t>
            </a:r>
          </a:p>
        </p:txBody>
      </p:sp>
      <p:sp>
        <p:nvSpPr>
          <p:cNvPr id="9" name="TextBox 9"/>
          <p:cNvSpPr txBox="1"/>
          <p:nvPr/>
        </p:nvSpPr>
        <p:spPr>
          <a:xfrm>
            <a:off x="9484698" y="2357643"/>
            <a:ext cx="8803302" cy="5495290"/>
          </a:xfrm>
          <a:prstGeom prst="rect">
            <a:avLst/>
          </a:prstGeom>
        </p:spPr>
        <p:txBody>
          <a:bodyPr lIns="0" tIns="0" rIns="0" bIns="0" rtlCol="0" anchor="t">
            <a:spAutoFit/>
          </a:bodyPr>
          <a:lstStyle/>
          <a:p>
            <a:pPr marL="474983" lvl="1" indent="-237491" algn="l">
              <a:lnSpc>
                <a:spcPts val="2420"/>
              </a:lnSpc>
              <a:buFont typeface="Arial"/>
              <a:buChar char="•"/>
            </a:pPr>
            <a:r>
              <a:rPr lang="en-US" sz="2200" b="1" u="sng">
                <a:solidFill>
                  <a:srgbClr val="000000"/>
                </a:solidFill>
                <a:latin typeface="Sarabun Bold"/>
                <a:ea typeface="Sarabun Bold"/>
                <a:cs typeface="Sarabun Bold"/>
                <a:sym typeface="Sarabun Bold"/>
              </a:rPr>
              <a:t>Classes Involved:</a:t>
            </a:r>
            <a:r>
              <a:rPr lang="en-US" sz="2200" b="1">
                <a:solidFill>
                  <a:srgbClr val="000000"/>
                </a:solidFill>
                <a:latin typeface="Sarabun Bold"/>
                <a:ea typeface="Sarabun Bold"/>
                <a:cs typeface="Sarabun Bold"/>
                <a:sym typeface="Sarabun Bold"/>
              </a:rPr>
              <a:t> </a:t>
            </a:r>
            <a:r>
              <a:rPr lang="en-US" sz="2200">
                <a:solidFill>
                  <a:srgbClr val="000000"/>
                </a:solidFill>
                <a:latin typeface="Sarabun"/>
                <a:ea typeface="Sarabun"/>
                <a:cs typeface="Sarabun"/>
                <a:sym typeface="Sarabun"/>
              </a:rPr>
              <a:t>WorkItem, WorkItemState, AssignedState, CreatedState, CompletedState, CancelledState, EscalatedState, AvailableState, InProgressState, RejectedState.</a:t>
            </a:r>
          </a:p>
          <a:p>
            <a:pPr algn="l">
              <a:lnSpc>
                <a:spcPts val="2420"/>
              </a:lnSpc>
            </a:pPr>
            <a:endParaRPr lang="en-US" sz="2200">
              <a:solidFill>
                <a:srgbClr val="000000"/>
              </a:solidFill>
              <a:latin typeface="Sarabun"/>
              <a:ea typeface="Sarabun"/>
              <a:cs typeface="Sarabun"/>
              <a:sym typeface="Sarabun"/>
            </a:endParaRPr>
          </a:p>
          <a:p>
            <a:pPr marL="474983" lvl="1" indent="-237491" algn="l">
              <a:lnSpc>
                <a:spcPts val="242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What a work item is allowed to do depends on its current stage in its lifecycle. </a:t>
            </a:r>
          </a:p>
          <a:p>
            <a:pPr algn="l">
              <a:lnSpc>
                <a:spcPts val="2420"/>
              </a:lnSpc>
            </a:pPr>
            <a:endParaRPr lang="en-US" sz="2200">
              <a:solidFill>
                <a:srgbClr val="000000"/>
              </a:solidFill>
              <a:latin typeface="Sarabun"/>
              <a:ea typeface="Sarabun"/>
              <a:cs typeface="Sarabun"/>
              <a:sym typeface="Sarabun"/>
            </a:endParaRPr>
          </a:p>
          <a:p>
            <a:pPr marL="474983" lvl="1" indent="-237491" algn="l">
              <a:lnSpc>
                <a:spcPts val="242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b="1">
                <a:solidFill>
                  <a:srgbClr val="000000"/>
                </a:solidFill>
                <a:latin typeface="Sarabun Bold"/>
                <a:ea typeface="Sarabun Bold"/>
                <a:cs typeface="Sarabun Bold"/>
                <a:sym typeface="Sarabun Bold"/>
              </a:rPr>
              <a:t> </a:t>
            </a:r>
            <a:r>
              <a:rPr lang="en-US" sz="2200">
                <a:solidFill>
                  <a:srgbClr val="000000"/>
                </a:solidFill>
                <a:latin typeface="Sarabun"/>
                <a:ea typeface="Sarabun"/>
                <a:cs typeface="Sarabun"/>
                <a:sym typeface="Sarabun"/>
              </a:rPr>
              <a:t>Each stage decides for itself which actions are valid and what comes next. This avoids a chain of conditions in every operation, and a new stage is added without touching the existing ones.</a:t>
            </a:r>
          </a:p>
          <a:p>
            <a:pPr algn="l">
              <a:lnSpc>
                <a:spcPts val="2420"/>
              </a:lnSpc>
            </a:pPr>
            <a:endParaRPr lang="en-US" sz="2200">
              <a:solidFill>
                <a:srgbClr val="000000"/>
              </a:solidFill>
              <a:latin typeface="Sarabun"/>
              <a:ea typeface="Sarabun"/>
              <a:cs typeface="Sarabun"/>
              <a:sym typeface="Sarabun"/>
            </a:endParaRPr>
          </a:p>
          <a:p>
            <a:pPr marL="474983" lvl="1" indent="-237491" algn="l">
              <a:lnSpc>
                <a:spcPts val="2420"/>
              </a:lnSpc>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Generically, there are basic concrete states such as Completed, Started and Escalated. However, when taking  the scenario into account, these concrete states may change, such as replacing the Completed state with an Accepted state for the applications, which can be cancelled, unlike in the generic structure.</a:t>
            </a:r>
          </a:p>
          <a:p>
            <a:pPr algn="l">
              <a:lnSpc>
                <a:spcPts val="242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210199" y="2181026"/>
            <a:ext cx="9988324" cy="8106069"/>
            <a:chOff x="0" y="0"/>
            <a:chExt cx="2630670" cy="2134932"/>
          </a:xfrm>
        </p:grpSpPr>
        <p:sp>
          <p:nvSpPr>
            <p:cNvPr id="3" name="Freeform 3"/>
            <p:cNvSpPr/>
            <p:nvPr/>
          </p:nvSpPr>
          <p:spPr>
            <a:xfrm>
              <a:off x="0" y="0"/>
              <a:ext cx="2630670" cy="2134932"/>
            </a:xfrm>
            <a:custGeom>
              <a:avLst/>
              <a:gdLst/>
              <a:ahLst/>
              <a:cxnLst/>
              <a:rect l="l" t="t" r="r" b="b"/>
              <a:pathLst>
                <a:path w="2630670" h="2134932">
                  <a:moveTo>
                    <a:pt x="39530" y="0"/>
                  </a:moveTo>
                  <a:lnTo>
                    <a:pt x="2591140" y="0"/>
                  </a:lnTo>
                  <a:cubicBezTo>
                    <a:pt x="2601624" y="0"/>
                    <a:pt x="2611678" y="4165"/>
                    <a:pt x="2619092" y="11578"/>
                  </a:cubicBezTo>
                  <a:cubicBezTo>
                    <a:pt x="2626505" y="18991"/>
                    <a:pt x="2630670" y="29046"/>
                    <a:pt x="2630670" y="39530"/>
                  </a:cubicBezTo>
                  <a:lnTo>
                    <a:pt x="2630670" y="2095402"/>
                  </a:lnTo>
                  <a:cubicBezTo>
                    <a:pt x="2630670" y="2105886"/>
                    <a:pt x="2626505" y="2115941"/>
                    <a:pt x="2619092" y="2123354"/>
                  </a:cubicBezTo>
                  <a:cubicBezTo>
                    <a:pt x="2611678" y="2130767"/>
                    <a:pt x="2601624" y="2134932"/>
                    <a:pt x="2591140" y="2134932"/>
                  </a:cubicBezTo>
                  <a:lnTo>
                    <a:pt x="39530" y="2134932"/>
                  </a:lnTo>
                  <a:cubicBezTo>
                    <a:pt x="29046" y="2134932"/>
                    <a:pt x="18991" y="2130767"/>
                    <a:pt x="11578" y="2123354"/>
                  </a:cubicBezTo>
                  <a:cubicBezTo>
                    <a:pt x="4165" y="2115941"/>
                    <a:pt x="0" y="2105886"/>
                    <a:pt x="0" y="2095402"/>
                  </a:cubicBezTo>
                  <a:lnTo>
                    <a:pt x="0" y="39530"/>
                  </a:lnTo>
                  <a:cubicBezTo>
                    <a:pt x="0" y="29046"/>
                    <a:pt x="4165" y="18991"/>
                    <a:pt x="11578" y="11578"/>
                  </a:cubicBezTo>
                  <a:cubicBezTo>
                    <a:pt x="18991" y="4165"/>
                    <a:pt x="29046" y="0"/>
                    <a:pt x="39530" y="0"/>
                  </a:cubicBezTo>
                  <a:close/>
                </a:path>
              </a:pathLst>
            </a:custGeom>
            <a:solidFill>
              <a:srgbClr val="002566"/>
            </a:solidFill>
          </p:spPr>
          <p:txBody>
            <a:bodyPr/>
            <a:lstStyle/>
            <a:p>
              <a:endParaRPr lang="en-ZA"/>
            </a:p>
          </p:txBody>
        </p:sp>
        <p:sp>
          <p:nvSpPr>
            <p:cNvPr id="4" name="TextBox 4"/>
            <p:cNvSpPr txBox="1"/>
            <p:nvPr/>
          </p:nvSpPr>
          <p:spPr>
            <a:xfrm>
              <a:off x="0" y="-28575"/>
              <a:ext cx="2630670" cy="216350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336806" y="2338593"/>
            <a:ext cx="9766466" cy="7790935"/>
          </a:xfrm>
          <a:custGeom>
            <a:avLst/>
            <a:gdLst/>
            <a:ahLst/>
            <a:cxnLst/>
            <a:rect l="l" t="t" r="r" b="b"/>
            <a:pathLst>
              <a:path w="9766466" h="7790935">
                <a:moveTo>
                  <a:pt x="0" y="0"/>
                </a:moveTo>
                <a:lnTo>
                  <a:pt x="9766466" y="0"/>
                </a:lnTo>
                <a:lnTo>
                  <a:pt x="9766466" y="7790935"/>
                </a:lnTo>
                <a:lnTo>
                  <a:pt x="0" y="7790935"/>
                </a:lnTo>
                <a:lnTo>
                  <a:pt x="0" y="0"/>
                </a:lnTo>
                <a:close/>
              </a:path>
            </a:pathLst>
          </a:custGeom>
          <a:blipFill>
            <a:blip r:embed="rId4"/>
            <a:stretch>
              <a:fillRect l="-1547" r="-3317"/>
            </a:stretch>
          </a:blipFill>
        </p:spPr>
        <p:txBody>
          <a:bodyPr/>
          <a:lstStyle/>
          <a:p>
            <a:endParaRPr lang="en-ZA"/>
          </a:p>
        </p:txBody>
      </p:sp>
      <p:sp>
        <p:nvSpPr>
          <p:cNvPr id="8" name="TextBox 8"/>
          <p:cNvSpPr txBox="1"/>
          <p:nvPr/>
        </p:nvSpPr>
        <p:spPr>
          <a:xfrm>
            <a:off x="6494698"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STRATEGY</a:t>
            </a:r>
          </a:p>
        </p:txBody>
      </p:sp>
      <p:sp>
        <p:nvSpPr>
          <p:cNvPr id="9" name="TextBox 9"/>
          <p:cNvSpPr txBox="1"/>
          <p:nvPr/>
        </p:nvSpPr>
        <p:spPr>
          <a:xfrm>
            <a:off x="9963868" y="2300493"/>
            <a:ext cx="8324132" cy="54495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WorkflowManager(Facade), TaskRouter, AssignmentStrategy, RoleBasedAssignment, RuleBasedAssignment, WorkloadAssignment.</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Different strategies to do the same thing depending on certain factors like roles and rules.</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Using the Strategy pattern allows us to assign tasks based on a predefined factor.</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Our generic implementation uses Role, Rule, and workload as predefined factors for the concrete stages, but the concrete stages may differ in specific scenarios i.e. qualification in a hospital setting.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1766720"/>
            <a:ext cx="7804415" cy="8208095"/>
            <a:chOff x="0" y="0"/>
            <a:chExt cx="2055484" cy="2161803"/>
          </a:xfrm>
        </p:grpSpPr>
        <p:sp>
          <p:nvSpPr>
            <p:cNvPr id="3" name="Freeform 3"/>
            <p:cNvSpPr/>
            <p:nvPr/>
          </p:nvSpPr>
          <p:spPr>
            <a:xfrm>
              <a:off x="0" y="0"/>
              <a:ext cx="2055484" cy="2161803"/>
            </a:xfrm>
            <a:custGeom>
              <a:avLst/>
              <a:gdLst/>
              <a:ahLst/>
              <a:cxnLst/>
              <a:rect l="l" t="t" r="r" b="b"/>
              <a:pathLst>
                <a:path w="2055484" h="2161803">
                  <a:moveTo>
                    <a:pt x="50592" y="0"/>
                  </a:moveTo>
                  <a:lnTo>
                    <a:pt x="2004892" y="0"/>
                  </a:lnTo>
                  <a:cubicBezTo>
                    <a:pt x="2032833" y="0"/>
                    <a:pt x="2055484" y="22651"/>
                    <a:pt x="2055484" y="50592"/>
                  </a:cubicBezTo>
                  <a:lnTo>
                    <a:pt x="2055484" y="2111211"/>
                  </a:lnTo>
                  <a:cubicBezTo>
                    <a:pt x="2055484" y="2124629"/>
                    <a:pt x="2050154" y="2137497"/>
                    <a:pt x="2040666" y="2146985"/>
                  </a:cubicBezTo>
                  <a:cubicBezTo>
                    <a:pt x="2031178" y="2156473"/>
                    <a:pt x="2018310" y="2161803"/>
                    <a:pt x="2004892" y="2161803"/>
                  </a:cubicBezTo>
                  <a:lnTo>
                    <a:pt x="50592" y="2161803"/>
                  </a:lnTo>
                  <a:cubicBezTo>
                    <a:pt x="22651" y="2161803"/>
                    <a:pt x="0" y="2139152"/>
                    <a:pt x="0" y="2111211"/>
                  </a:cubicBezTo>
                  <a:lnTo>
                    <a:pt x="0" y="50592"/>
                  </a:lnTo>
                  <a:cubicBezTo>
                    <a:pt x="0" y="22651"/>
                    <a:pt x="22651" y="0"/>
                    <a:pt x="50592" y="0"/>
                  </a:cubicBezTo>
                  <a:close/>
                </a:path>
              </a:pathLst>
            </a:custGeom>
            <a:solidFill>
              <a:srgbClr val="002566"/>
            </a:solidFill>
          </p:spPr>
          <p:txBody>
            <a:bodyPr/>
            <a:lstStyle/>
            <a:p>
              <a:endParaRPr lang="en-ZA"/>
            </a:p>
          </p:txBody>
        </p:sp>
        <p:sp>
          <p:nvSpPr>
            <p:cNvPr id="4" name="TextBox 4"/>
            <p:cNvSpPr txBox="1"/>
            <p:nvPr/>
          </p:nvSpPr>
          <p:spPr>
            <a:xfrm>
              <a:off x="0" y="-28575"/>
              <a:ext cx="2055484" cy="219037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19556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220127" y="2073400"/>
            <a:ext cx="7364162" cy="7551678"/>
          </a:xfrm>
          <a:custGeom>
            <a:avLst/>
            <a:gdLst/>
            <a:ahLst/>
            <a:cxnLst/>
            <a:rect l="l" t="t" r="r" b="b"/>
            <a:pathLst>
              <a:path w="7364162" h="7551678">
                <a:moveTo>
                  <a:pt x="0" y="0"/>
                </a:moveTo>
                <a:lnTo>
                  <a:pt x="7364161" y="0"/>
                </a:lnTo>
                <a:lnTo>
                  <a:pt x="7364161" y="7551677"/>
                </a:lnTo>
                <a:lnTo>
                  <a:pt x="0" y="7551677"/>
                </a:lnTo>
                <a:lnTo>
                  <a:pt x="0" y="0"/>
                </a:lnTo>
                <a:close/>
              </a:path>
            </a:pathLst>
          </a:custGeom>
          <a:blipFill>
            <a:blip r:embed="rId4"/>
            <a:stretch>
              <a:fillRect r="-897" b="-4704"/>
            </a:stretch>
          </a:blipFill>
        </p:spPr>
        <p:txBody>
          <a:bodyPr/>
          <a:lstStyle/>
          <a:p>
            <a:endParaRPr lang="en-ZA"/>
          </a:p>
        </p:txBody>
      </p:sp>
      <p:sp>
        <p:nvSpPr>
          <p:cNvPr id="8" name="TextBox 8"/>
          <p:cNvSpPr txBox="1"/>
          <p:nvPr/>
        </p:nvSpPr>
        <p:spPr>
          <a:xfrm>
            <a:off x="3296966" y="497843"/>
            <a:ext cx="13189487" cy="1014725"/>
          </a:xfrm>
          <a:prstGeom prst="rect">
            <a:avLst/>
          </a:prstGeom>
        </p:spPr>
        <p:txBody>
          <a:bodyPr lIns="0" tIns="0" rIns="0" bIns="0" rtlCol="0" anchor="t">
            <a:spAutoFit/>
          </a:bodyPr>
          <a:lstStyle/>
          <a:p>
            <a:pPr algn="l">
              <a:lnSpc>
                <a:spcPts val="7864"/>
              </a:lnSpc>
            </a:pPr>
            <a:r>
              <a:rPr lang="en-US" sz="7149" b="1">
                <a:solidFill>
                  <a:srgbClr val="002566"/>
                </a:solidFill>
                <a:latin typeface="Sarabun Bold"/>
                <a:ea typeface="Sarabun Bold"/>
                <a:cs typeface="Sarabun Bold"/>
                <a:sym typeface="Sarabun Bold"/>
              </a:rPr>
              <a:t>CHAIN OF RESPONSIBILITY</a:t>
            </a:r>
          </a:p>
        </p:txBody>
      </p:sp>
      <p:sp>
        <p:nvSpPr>
          <p:cNvPr id="9" name="TextBox 9"/>
          <p:cNvSpPr txBox="1"/>
          <p:nvPr/>
        </p:nvSpPr>
        <p:spPr>
          <a:xfrm>
            <a:off x="7364162" y="2370634"/>
            <a:ext cx="10923838" cy="54495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ApprovalRequest, ApprovalHandler, RoleApproverHandler, FinalApproverHandler.</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Approval of a task may require the task to be escalated higher up.</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Chain of responsibility is easily able to fix this as if the first handle(RoleApproveHandler) can’t handle the task, it escalates it to the next handler.</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The generic implementations use predetermined placeholder names and limit values, whereas in scenario-specific implementation, the limit would be a more meaningful value and the classes would be named after who is handeling the task instead of a generic name.</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2190256"/>
            <a:ext cx="10993175" cy="8096744"/>
            <a:chOff x="0" y="0"/>
            <a:chExt cx="2895322" cy="2132476"/>
          </a:xfrm>
        </p:grpSpPr>
        <p:sp>
          <p:nvSpPr>
            <p:cNvPr id="3" name="Freeform 3"/>
            <p:cNvSpPr/>
            <p:nvPr/>
          </p:nvSpPr>
          <p:spPr>
            <a:xfrm>
              <a:off x="0" y="0"/>
              <a:ext cx="2895322" cy="2132476"/>
            </a:xfrm>
            <a:custGeom>
              <a:avLst/>
              <a:gdLst/>
              <a:ahLst/>
              <a:cxnLst/>
              <a:rect l="l" t="t" r="r" b="b"/>
              <a:pathLst>
                <a:path w="2895322" h="2132476">
                  <a:moveTo>
                    <a:pt x="35917" y="0"/>
                  </a:moveTo>
                  <a:lnTo>
                    <a:pt x="2859405" y="0"/>
                  </a:lnTo>
                  <a:cubicBezTo>
                    <a:pt x="2868931" y="0"/>
                    <a:pt x="2878066" y="3784"/>
                    <a:pt x="2884802" y="10520"/>
                  </a:cubicBezTo>
                  <a:cubicBezTo>
                    <a:pt x="2891538" y="17255"/>
                    <a:pt x="2895322" y="26391"/>
                    <a:pt x="2895322" y="35917"/>
                  </a:cubicBezTo>
                  <a:lnTo>
                    <a:pt x="2895322" y="2096559"/>
                  </a:lnTo>
                  <a:cubicBezTo>
                    <a:pt x="2895322" y="2106085"/>
                    <a:pt x="2891538" y="2115220"/>
                    <a:pt x="2884802" y="2121956"/>
                  </a:cubicBezTo>
                  <a:cubicBezTo>
                    <a:pt x="2878066" y="2128692"/>
                    <a:pt x="2868931" y="2132476"/>
                    <a:pt x="2859405" y="2132476"/>
                  </a:cubicBezTo>
                  <a:lnTo>
                    <a:pt x="35917" y="2132476"/>
                  </a:lnTo>
                  <a:cubicBezTo>
                    <a:pt x="26391" y="2132476"/>
                    <a:pt x="17255" y="2128692"/>
                    <a:pt x="10520" y="2121956"/>
                  </a:cubicBezTo>
                  <a:cubicBezTo>
                    <a:pt x="3784" y="2115220"/>
                    <a:pt x="0" y="2106085"/>
                    <a:pt x="0" y="2096559"/>
                  </a:cubicBezTo>
                  <a:lnTo>
                    <a:pt x="0" y="35917"/>
                  </a:lnTo>
                  <a:cubicBezTo>
                    <a:pt x="0" y="26391"/>
                    <a:pt x="3784" y="17255"/>
                    <a:pt x="10520" y="10520"/>
                  </a:cubicBezTo>
                  <a:cubicBezTo>
                    <a:pt x="17255" y="3784"/>
                    <a:pt x="26391" y="0"/>
                    <a:pt x="35917" y="0"/>
                  </a:cubicBezTo>
                  <a:close/>
                </a:path>
              </a:pathLst>
            </a:custGeom>
            <a:solidFill>
              <a:srgbClr val="002566"/>
            </a:solidFill>
          </p:spPr>
          <p:txBody>
            <a:bodyPr/>
            <a:lstStyle/>
            <a:p>
              <a:endParaRPr lang="en-ZA"/>
            </a:p>
          </p:txBody>
        </p:sp>
        <p:sp>
          <p:nvSpPr>
            <p:cNvPr id="4" name="TextBox 4"/>
            <p:cNvSpPr txBox="1"/>
            <p:nvPr/>
          </p:nvSpPr>
          <p:spPr>
            <a:xfrm>
              <a:off x="0" y="-28575"/>
              <a:ext cx="2895322" cy="216105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170283" y="2349136"/>
            <a:ext cx="10605223" cy="7757748"/>
          </a:xfrm>
          <a:custGeom>
            <a:avLst/>
            <a:gdLst/>
            <a:ahLst/>
            <a:cxnLst/>
            <a:rect l="l" t="t" r="r" b="b"/>
            <a:pathLst>
              <a:path w="10605223" h="7757748">
                <a:moveTo>
                  <a:pt x="0" y="0"/>
                </a:moveTo>
                <a:lnTo>
                  <a:pt x="10605222" y="0"/>
                </a:lnTo>
                <a:lnTo>
                  <a:pt x="10605222" y="7757748"/>
                </a:lnTo>
                <a:lnTo>
                  <a:pt x="0" y="7757748"/>
                </a:lnTo>
                <a:lnTo>
                  <a:pt x="0" y="0"/>
                </a:lnTo>
                <a:close/>
              </a:path>
            </a:pathLst>
          </a:custGeom>
          <a:blipFill>
            <a:blip r:embed="rId4"/>
            <a:stretch>
              <a:fillRect l="-1605" b="-2195"/>
            </a:stretch>
          </a:blipFill>
        </p:spPr>
        <p:txBody>
          <a:bodyPr/>
          <a:lstStyle/>
          <a:p>
            <a:endParaRPr lang="en-ZA"/>
          </a:p>
        </p:txBody>
      </p:sp>
      <p:sp>
        <p:nvSpPr>
          <p:cNvPr id="8" name="TextBox 8"/>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OBSERVER</a:t>
            </a:r>
          </a:p>
        </p:txBody>
      </p:sp>
      <p:sp>
        <p:nvSpPr>
          <p:cNvPr id="9" name="TextBox 9"/>
          <p:cNvSpPr txBox="1"/>
          <p:nvPr/>
        </p:nvSpPr>
        <p:spPr>
          <a:xfrm>
            <a:off x="10775505" y="2311036"/>
            <a:ext cx="7512495" cy="70116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WorkFlowManager(Facade), WorkflowEventBus, DeadlineEscalator, EventPublisher, EventListener, DependencyActivator, AuditLogger, NotificationSender, MonitoringCollector.</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Completing one activity may make another available, an external event may trigger new work, and several parts of the system may need to react to the same event.</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Observer allows us to notify activities when events occur.</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The generic implementation relies on general events, such as a deadline. However scenario specific cases may have different events and reactions to events.</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251453" y="2093905"/>
            <a:ext cx="8767965" cy="8531776"/>
            <a:chOff x="0" y="0"/>
            <a:chExt cx="2309258" cy="2247052"/>
          </a:xfrm>
        </p:grpSpPr>
        <p:sp>
          <p:nvSpPr>
            <p:cNvPr id="3" name="Freeform 3"/>
            <p:cNvSpPr/>
            <p:nvPr/>
          </p:nvSpPr>
          <p:spPr>
            <a:xfrm>
              <a:off x="0" y="0"/>
              <a:ext cx="2309258" cy="2247052"/>
            </a:xfrm>
            <a:custGeom>
              <a:avLst/>
              <a:gdLst/>
              <a:ahLst/>
              <a:cxnLst/>
              <a:rect l="l" t="t" r="r" b="b"/>
              <a:pathLst>
                <a:path w="2309258" h="2247052">
                  <a:moveTo>
                    <a:pt x="45032" y="0"/>
                  </a:moveTo>
                  <a:lnTo>
                    <a:pt x="2264226" y="0"/>
                  </a:lnTo>
                  <a:cubicBezTo>
                    <a:pt x="2289097" y="0"/>
                    <a:pt x="2309258" y="20161"/>
                    <a:pt x="2309258" y="45032"/>
                  </a:cubicBezTo>
                  <a:lnTo>
                    <a:pt x="2309258" y="2202020"/>
                  </a:lnTo>
                  <a:cubicBezTo>
                    <a:pt x="2309258" y="2226891"/>
                    <a:pt x="2289097" y="2247052"/>
                    <a:pt x="2264226" y="2247052"/>
                  </a:cubicBezTo>
                  <a:lnTo>
                    <a:pt x="45032" y="2247052"/>
                  </a:lnTo>
                  <a:cubicBezTo>
                    <a:pt x="20161" y="2247052"/>
                    <a:pt x="0" y="2226891"/>
                    <a:pt x="0" y="2202020"/>
                  </a:cubicBezTo>
                  <a:lnTo>
                    <a:pt x="0" y="45032"/>
                  </a:lnTo>
                  <a:cubicBezTo>
                    <a:pt x="0" y="20161"/>
                    <a:pt x="20161" y="0"/>
                    <a:pt x="45032" y="0"/>
                  </a:cubicBezTo>
                  <a:close/>
                </a:path>
              </a:pathLst>
            </a:custGeom>
            <a:solidFill>
              <a:srgbClr val="002566"/>
            </a:solidFill>
          </p:spPr>
          <p:txBody>
            <a:bodyPr/>
            <a:lstStyle/>
            <a:p>
              <a:endParaRPr lang="en-ZA"/>
            </a:p>
          </p:txBody>
        </p:sp>
        <p:sp>
          <p:nvSpPr>
            <p:cNvPr id="4" name="TextBox 4"/>
            <p:cNvSpPr txBox="1"/>
            <p:nvPr/>
          </p:nvSpPr>
          <p:spPr>
            <a:xfrm>
              <a:off x="0" y="-28575"/>
              <a:ext cx="2309258" cy="227562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170283" y="2300493"/>
            <a:ext cx="8186028" cy="7901411"/>
          </a:xfrm>
          <a:custGeom>
            <a:avLst/>
            <a:gdLst/>
            <a:ahLst/>
            <a:cxnLst/>
            <a:rect l="l" t="t" r="r" b="b"/>
            <a:pathLst>
              <a:path w="8186028" h="7901411">
                <a:moveTo>
                  <a:pt x="0" y="0"/>
                </a:moveTo>
                <a:lnTo>
                  <a:pt x="8186028" y="0"/>
                </a:lnTo>
                <a:lnTo>
                  <a:pt x="8186028" y="7901411"/>
                </a:lnTo>
                <a:lnTo>
                  <a:pt x="0" y="7901411"/>
                </a:lnTo>
                <a:lnTo>
                  <a:pt x="0" y="0"/>
                </a:lnTo>
                <a:close/>
              </a:path>
            </a:pathLst>
          </a:custGeom>
          <a:blipFill>
            <a:blip r:embed="rId4"/>
            <a:stretch>
              <a:fillRect l="-2080"/>
            </a:stretch>
          </a:blipFill>
        </p:spPr>
        <p:txBody>
          <a:bodyPr/>
          <a:lstStyle/>
          <a:p>
            <a:endParaRPr lang="en-ZA"/>
          </a:p>
        </p:txBody>
      </p:sp>
      <p:sp>
        <p:nvSpPr>
          <p:cNvPr id="8" name="TextBox 8"/>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MEDIATOR</a:t>
            </a:r>
          </a:p>
        </p:txBody>
      </p:sp>
      <p:sp>
        <p:nvSpPr>
          <p:cNvPr id="9" name="TextBox 9"/>
          <p:cNvSpPr txBox="1"/>
          <p:nvPr/>
        </p:nvSpPr>
        <p:spPr>
          <a:xfrm>
            <a:off x="8459363" y="2300493"/>
            <a:ext cx="9828637" cy="54495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WorkItem, Resource, Participant, Colleague, WorkCoordinator, ResourceCoordinator.</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Work items, participants, and resources depend on each other i.e. one task waits for another, or participants share a resource.</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Mediator is able to notify relevant classes when actions are completed instead of telling every class which allows the dependent objects to carry on.</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Genericly we have our work item, resource and participant that get notified however in a scenario situation the classes the mediator notifies may differ in functionality and name.</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2882474" y="2264425"/>
            <a:ext cx="11833052" cy="8219591"/>
            <a:chOff x="0" y="0"/>
            <a:chExt cx="3116524" cy="2164831"/>
          </a:xfrm>
        </p:grpSpPr>
        <p:sp>
          <p:nvSpPr>
            <p:cNvPr id="3" name="Freeform 3"/>
            <p:cNvSpPr/>
            <p:nvPr/>
          </p:nvSpPr>
          <p:spPr>
            <a:xfrm>
              <a:off x="0" y="0"/>
              <a:ext cx="3116524" cy="2164831"/>
            </a:xfrm>
            <a:custGeom>
              <a:avLst/>
              <a:gdLst/>
              <a:ahLst/>
              <a:cxnLst/>
              <a:rect l="l" t="t" r="r" b="b"/>
              <a:pathLst>
                <a:path w="3116524" h="2164831">
                  <a:moveTo>
                    <a:pt x="33367" y="0"/>
                  </a:moveTo>
                  <a:lnTo>
                    <a:pt x="3083157" y="0"/>
                  </a:lnTo>
                  <a:cubicBezTo>
                    <a:pt x="3092006" y="0"/>
                    <a:pt x="3100494" y="3515"/>
                    <a:pt x="3106751" y="9773"/>
                  </a:cubicBezTo>
                  <a:cubicBezTo>
                    <a:pt x="3113009" y="16031"/>
                    <a:pt x="3116524" y="24518"/>
                    <a:pt x="3116524" y="33367"/>
                  </a:cubicBezTo>
                  <a:lnTo>
                    <a:pt x="3116524" y="2131463"/>
                  </a:lnTo>
                  <a:cubicBezTo>
                    <a:pt x="3116524" y="2149892"/>
                    <a:pt x="3101585" y="2164831"/>
                    <a:pt x="3083157" y="2164831"/>
                  </a:cubicBezTo>
                  <a:lnTo>
                    <a:pt x="33367" y="2164831"/>
                  </a:lnTo>
                  <a:cubicBezTo>
                    <a:pt x="14939" y="2164831"/>
                    <a:pt x="0" y="2149892"/>
                    <a:pt x="0" y="2131463"/>
                  </a:cubicBezTo>
                  <a:lnTo>
                    <a:pt x="0" y="33367"/>
                  </a:lnTo>
                  <a:cubicBezTo>
                    <a:pt x="0" y="14939"/>
                    <a:pt x="14939" y="0"/>
                    <a:pt x="33367" y="0"/>
                  </a:cubicBezTo>
                  <a:close/>
                </a:path>
              </a:pathLst>
            </a:custGeom>
            <a:solidFill>
              <a:srgbClr val="002566"/>
            </a:solidFill>
          </p:spPr>
          <p:txBody>
            <a:bodyPr/>
            <a:lstStyle/>
            <a:p>
              <a:endParaRPr lang="en-ZA"/>
            </a:p>
          </p:txBody>
        </p:sp>
        <p:sp>
          <p:nvSpPr>
            <p:cNvPr id="4" name="TextBox 4"/>
            <p:cNvSpPr txBox="1"/>
            <p:nvPr/>
          </p:nvSpPr>
          <p:spPr>
            <a:xfrm>
              <a:off x="0" y="-28575"/>
              <a:ext cx="3116524" cy="219340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0" y="2338593"/>
            <a:ext cx="8751915" cy="7958114"/>
          </a:xfrm>
          <a:custGeom>
            <a:avLst/>
            <a:gdLst/>
            <a:ahLst/>
            <a:cxnLst/>
            <a:rect l="l" t="t" r="r" b="b"/>
            <a:pathLst>
              <a:path w="8751915" h="7958114">
                <a:moveTo>
                  <a:pt x="0" y="0"/>
                </a:moveTo>
                <a:lnTo>
                  <a:pt x="8751915" y="0"/>
                </a:lnTo>
                <a:lnTo>
                  <a:pt x="8751915" y="7958114"/>
                </a:lnTo>
                <a:lnTo>
                  <a:pt x="0" y="7958114"/>
                </a:lnTo>
                <a:lnTo>
                  <a:pt x="0" y="0"/>
                </a:lnTo>
                <a:close/>
              </a:path>
            </a:pathLst>
          </a:custGeom>
          <a:blipFill>
            <a:blip r:embed="rId4"/>
            <a:stretch>
              <a:fillRect/>
            </a:stretch>
          </a:blipFill>
        </p:spPr>
        <p:txBody>
          <a:bodyPr/>
          <a:lstStyle/>
          <a:p>
            <a:endParaRPr lang="en-ZA"/>
          </a:p>
        </p:txBody>
      </p:sp>
      <p:sp>
        <p:nvSpPr>
          <p:cNvPr id="8" name="TextBox 8"/>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COMMAND</a:t>
            </a:r>
          </a:p>
        </p:txBody>
      </p:sp>
      <p:sp>
        <p:nvSpPr>
          <p:cNvPr id="9" name="TextBox 9"/>
          <p:cNvSpPr txBox="1"/>
          <p:nvPr/>
        </p:nvSpPr>
        <p:spPr>
          <a:xfrm>
            <a:off x="8751915" y="2300493"/>
            <a:ext cx="9527051" cy="5449570"/>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WorkflowManager(Facade), WorkflowCommand, MakeAvailableCommand, EscalateCommand, CommandProcessor, ApproveCommand, CompleteCommand, RejectCommand, AssignCommand, CancelCommand, StartCommand, WorkComponent.</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Actions must be retained as history and undone if needed.</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Command is able to use the inverse to undo certain commands and if needed use the snapshot from momento to preform undo.</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The commands available as well as the way undo() is done will differ per scenario.</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0" y="2122286"/>
            <a:ext cx="9488063" cy="8389874"/>
            <a:chOff x="0" y="0"/>
            <a:chExt cx="2498914" cy="2209679"/>
          </a:xfrm>
        </p:grpSpPr>
        <p:sp>
          <p:nvSpPr>
            <p:cNvPr id="3" name="Freeform 3"/>
            <p:cNvSpPr/>
            <p:nvPr/>
          </p:nvSpPr>
          <p:spPr>
            <a:xfrm>
              <a:off x="0" y="0"/>
              <a:ext cx="2498914" cy="2209679"/>
            </a:xfrm>
            <a:custGeom>
              <a:avLst/>
              <a:gdLst/>
              <a:ahLst/>
              <a:cxnLst/>
              <a:rect l="l" t="t" r="r" b="b"/>
              <a:pathLst>
                <a:path w="2498914" h="2209679">
                  <a:moveTo>
                    <a:pt x="41614" y="0"/>
                  </a:moveTo>
                  <a:lnTo>
                    <a:pt x="2457299" y="0"/>
                  </a:lnTo>
                  <a:cubicBezTo>
                    <a:pt x="2480282" y="0"/>
                    <a:pt x="2498914" y="18631"/>
                    <a:pt x="2498914" y="41614"/>
                  </a:cubicBezTo>
                  <a:lnTo>
                    <a:pt x="2498914" y="2168065"/>
                  </a:lnTo>
                  <a:cubicBezTo>
                    <a:pt x="2498914" y="2179101"/>
                    <a:pt x="2494529" y="2189686"/>
                    <a:pt x="2486725" y="2197490"/>
                  </a:cubicBezTo>
                  <a:cubicBezTo>
                    <a:pt x="2478921" y="2205294"/>
                    <a:pt x="2468336" y="2209679"/>
                    <a:pt x="2457299" y="2209679"/>
                  </a:cubicBezTo>
                  <a:lnTo>
                    <a:pt x="41614" y="2209679"/>
                  </a:lnTo>
                  <a:cubicBezTo>
                    <a:pt x="18631" y="2209679"/>
                    <a:pt x="0" y="2191047"/>
                    <a:pt x="0" y="2168065"/>
                  </a:cubicBezTo>
                  <a:lnTo>
                    <a:pt x="0" y="41614"/>
                  </a:lnTo>
                  <a:cubicBezTo>
                    <a:pt x="0" y="18631"/>
                    <a:pt x="18631" y="0"/>
                    <a:pt x="41614" y="0"/>
                  </a:cubicBezTo>
                  <a:close/>
                </a:path>
              </a:pathLst>
            </a:custGeom>
            <a:solidFill>
              <a:srgbClr val="002566"/>
            </a:solidFill>
          </p:spPr>
          <p:txBody>
            <a:bodyPr/>
            <a:lstStyle/>
            <a:p>
              <a:endParaRPr lang="en-ZA"/>
            </a:p>
          </p:txBody>
        </p:sp>
        <p:sp>
          <p:nvSpPr>
            <p:cNvPr id="4" name="TextBox 4"/>
            <p:cNvSpPr txBox="1"/>
            <p:nvPr/>
          </p:nvSpPr>
          <p:spPr>
            <a:xfrm>
              <a:off x="0" y="-28575"/>
              <a:ext cx="2498914" cy="223825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676972" y="7934454"/>
            <a:ext cx="2145554" cy="3381246"/>
          </a:xfrm>
          <a:custGeom>
            <a:avLst/>
            <a:gdLst/>
            <a:ahLst/>
            <a:cxnLst/>
            <a:rect l="l" t="t" r="r" b="b"/>
            <a:pathLst>
              <a:path w="2145554" h="3381246">
                <a:moveTo>
                  <a:pt x="0" y="0"/>
                </a:moveTo>
                <a:lnTo>
                  <a:pt x="2145554" y="0"/>
                </a:lnTo>
                <a:lnTo>
                  <a:pt x="2145554" y="3381246"/>
                </a:lnTo>
                <a:lnTo>
                  <a:pt x="0" y="338124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Freeform 6"/>
          <p:cNvSpPr/>
          <p:nvPr/>
        </p:nvSpPr>
        <p:spPr>
          <a:xfrm>
            <a:off x="0" y="214618"/>
            <a:ext cx="2453660" cy="2413509"/>
          </a:xfrm>
          <a:custGeom>
            <a:avLst/>
            <a:gdLst/>
            <a:ahLst/>
            <a:cxnLst/>
            <a:rect l="l" t="t" r="r" b="b"/>
            <a:pathLst>
              <a:path w="2453660" h="2413509">
                <a:moveTo>
                  <a:pt x="0" y="0"/>
                </a:moveTo>
                <a:lnTo>
                  <a:pt x="2453660" y="0"/>
                </a:lnTo>
                <a:lnTo>
                  <a:pt x="2453660" y="2413510"/>
                </a:lnTo>
                <a:lnTo>
                  <a:pt x="0" y="24135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7" name="Freeform 7"/>
          <p:cNvSpPr/>
          <p:nvPr/>
        </p:nvSpPr>
        <p:spPr>
          <a:xfrm>
            <a:off x="85725" y="2290968"/>
            <a:ext cx="9215326" cy="7948407"/>
          </a:xfrm>
          <a:custGeom>
            <a:avLst/>
            <a:gdLst/>
            <a:ahLst/>
            <a:cxnLst/>
            <a:rect l="l" t="t" r="r" b="b"/>
            <a:pathLst>
              <a:path w="9215326" h="7948407">
                <a:moveTo>
                  <a:pt x="0" y="0"/>
                </a:moveTo>
                <a:lnTo>
                  <a:pt x="9215326" y="0"/>
                </a:lnTo>
                <a:lnTo>
                  <a:pt x="9215326" y="7948407"/>
                </a:lnTo>
                <a:lnTo>
                  <a:pt x="0" y="7948407"/>
                </a:lnTo>
                <a:lnTo>
                  <a:pt x="0" y="0"/>
                </a:lnTo>
                <a:close/>
              </a:path>
            </a:pathLst>
          </a:custGeom>
          <a:blipFill>
            <a:blip r:embed="rId4"/>
            <a:stretch>
              <a:fillRect/>
            </a:stretch>
          </a:blipFill>
        </p:spPr>
        <p:txBody>
          <a:bodyPr/>
          <a:lstStyle/>
          <a:p>
            <a:endParaRPr lang="en-ZA"/>
          </a:p>
        </p:txBody>
      </p:sp>
      <p:sp>
        <p:nvSpPr>
          <p:cNvPr id="8" name="TextBox 8"/>
          <p:cNvSpPr txBox="1"/>
          <p:nvPr/>
        </p:nvSpPr>
        <p:spPr>
          <a:xfrm>
            <a:off x="6102614" y="507368"/>
            <a:ext cx="5298604" cy="1118864"/>
          </a:xfrm>
          <a:prstGeom prst="rect">
            <a:avLst/>
          </a:prstGeom>
        </p:spPr>
        <p:txBody>
          <a:bodyPr lIns="0" tIns="0" rIns="0" bIns="0" rtlCol="0" anchor="t">
            <a:spAutoFit/>
          </a:bodyPr>
          <a:lstStyle/>
          <a:p>
            <a:pPr algn="l">
              <a:lnSpc>
                <a:spcPts val="8634"/>
              </a:lnSpc>
            </a:pPr>
            <a:r>
              <a:rPr lang="en-US" sz="7849" b="1">
                <a:solidFill>
                  <a:srgbClr val="002566"/>
                </a:solidFill>
                <a:latin typeface="Sarabun Bold"/>
                <a:ea typeface="Sarabun Bold"/>
                <a:cs typeface="Sarabun Bold"/>
                <a:sym typeface="Sarabun Bold"/>
              </a:rPr>
              <a:t>MEMENTO</a:t>
            </a:r>
          </a:p>
        </p:txBody>
      </p:sp>
      <p:sp>
        <p:nvSpPr>
          <p:cNvPr id="9" name="TextBox 9"/>
          <p:cNvSpPr txBox="1"/>
          <p:nvPr/>
        </p:nvSpPr>
        <p:spPr>
          <a:xfrm>
            <a:off x="9488063" y="2300493"/>
            <a:ext cx="8799937" cy="5059045"/>
          </a:xfrm>
          <a:prstGeom prst="rect">
            <a:avLst/>
          </a:prstGeom>
        </p:spPr>
        <p:txBody>
          <a:bodyPr lIns="0" tIns="0" rIns="0" bIns="0" rtlCol="0" anchor="t">
            <a:spAutoFit/>
          </a:bodyPr>
          <a:lstStyle/>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Classes Involved:</a:t>
            </a:r>
            <a:r>
              <a:rPr lang="en-US" sz="2200">
                <a:solidFill>
                  <a:srgbClr val="000000"/>
                </a:solidFill>
                <a:latin typeface="Sarabun"/>
                <a:ea typeface="Sarabun"/>
                <a:cs typeface="Sarabun"/>
                <a:sym typeface="Sarabun"/>
              </a:rPr>
              <a:t> WorkflowManager(Facade), CommandProcessor, SnapshotHistory, InstanceSnapshot, WorkflowInstance.</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The problem:</a:t>
            </a:r>
            <a:r>
              <a:rPr lang="en-US" sz="2200">
                <a:solidFill>
                  <a:srgbClr val="000000"/>
                </a:solidFill>
                <a:latin typeface="Sarabun"/>
                <a:ea typeface="Sarabun"/>
                <a:cs typeface="Sarabun"/>
                <a:sym typeface="Sarabun"/>
              </a:rPr>
              <a:t> If the system crashes a rollback needs to be available to restore the system to a previous state.</a:t>
            </a:r>
          </a:p>
          <a:p>
            <a:pPr algn="l">
              <a:lnSpc>
                <a:spcPts val="3080"/>
              </a:lnSpc>
            </a:pPr>
            <a:endParaRPr lang="en-US" sz="2200">
              <a:solidFill>
                <a:srgbClr val="000000"/>
              </a:solidFill>
              <a:latin typeface="Sarabun"/>
              <a:ea typeface="Sarabun"/>
              <a:cs typeface="Sarabun"/>
              <a:sym typeface="Sarabun"/>
            </a:endParaRPr>
          </a:p>
          <a:p>
            <a:pPr marL="474981" lvl="1" indent="-237491" algn="l">
              <a:lnSpc>
                <a:spcPts val="3080"/>
              </a:lnSpc>
              <a:buFont typeface="Arial"/>
              <a:buChar char="•"/>
            </a:pPr>
            <a:r>
              <a:rPr lang="en-US" sz="2200" b="1" u="sng">
                <a:solidFill>
                  <a:srgbClr val="000000"/>
                </a:solidFill>
                <a:latin typeface="Sarabun Bold"/>
                <a:ea typeface="Sarabun Bold"/>
                <a:cs typeface="Sarabun Bold"/>
                <a:sym typeface="Sarabun Bold"/>
              </a:rPr>
              <a:t>How does it solve the problem:</a:t>
            </a:r>
            <a:r>
              <a:rPr lang="en-US" sz="2200">
                <a:solidFill>
                  <a:srgbClr val="000000"/>
                </a:solidFill>
                <a:latin typeface="Sarabun"/>
                <a:ea typeface="Sarabun"/>
                <a:cs typeface="Sarabun"/>
                <a:sym typeface="Sarabun"/>
              </a:rPr>
              <a:t> The momento stores a snapshot of the system before a risky action is going to take place and can restore it if needed.</a:t>
            </a:r>
          </a:p>
          <a:p>
            <a:pPr algn="l">
              <a:lnSpc>
                <a:spcPts val="3080"/>
              </a:lnSpc>
              <a:spcBef>
                <a:spcPct val="0"/>
              </a:spcBef>
            </a:pPr>
            <a:endParaRPr lang="en-US" sz="2200">
              <a:solidFill>
                <a:srgbClr val="000000"/>
              </a:solidFill>
              <a:latin typeface="Sarabun"/>
              <a:ea typeface="Sarabun"/>
              <a:cs typeface="Sarabun"/>
              <a:sym typeface="Sarabun"/>
            </a:endParaRPr>
          </a:p>
          <a:p>
            <a:pPr marL="474981" lvl="1" indent="-237491" algn="l">
              <a:lnSpc>
                <a:spcPts val="3080"/>
              </a:lnSpc>
              <a:spcBef>
                <a:spcPct val="0"/>
              </a:spcBef>
              <a:buFont typeface="Arial"/>
              <a:buChar char="•"/>
            </a:pPr>
            <a:r>
              <a:rPr lang="en-US" sz="2200" b="1" u="sng">
                <a:solidFill>
                  <a:srgbClr val="000000"/>
                </a:solidFill>
                <a:latin typeface="Sarabun Bold"/>
                <a:ea typeface="Sarabun Bold"/>
                <a:cs typeface="Sarabun Bold"/>
                <a:sym typeface="Sarabun Bold"/>
              </a:rPr>
              <a:t>Generic vs Scenario:</a:t>
            </a:r>
            <a:r>
              <a:rPr lang="en-US" sz="2200">
                <a:solidFill>
                  <a:srgbClr val="000000"/>
                </a:solidFill>
                <a:latin typeface="Sarabun"/>
                <a:ea typeface="Sarabun"/>
                <a:cs typeface="Sarabun"/>
                <a:sym typeface="Sarabun"/>
              </a:rPr>
              <a:t> The difference in the generic and scenarios is when the system decides to take a snapshot of the system.</a:t>
            </a:r>
          </a:p>
          <a:p>
            <a:pPr algn="l">
              <a:lnSpc>
                <a:spcPts val="3080"/>
              </a:lnSpc>
              <a:spcBef>
                <a:spcPct val="0"/>
              </a:spcBef>
            </a:pPr>
            <a:endParaRPr lang="en-US" sz="2200">
              <a:solidFill>
                <a:srgbClr val="000000"/>
              </a:solidFill>
              <a:latin typeface="Sarabun"/>
              <a:ea typeface="Sarabun"/>
              <a:cs typeface="Sarabun"/>
              <a:sym typeface="Sarabu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sp>
        <p:nvSpPr>
          <p:cNvPr id="2" name="Freeform 2"/>
          <p:cNvSpPr/>
          <p:nvPr/>
        </p:nvSpPr>
        <p:spPr>
          <a:xfrm>
            <a:off x="-1071010" y="2238739"/>
            <a:ext cx="3799620" cy="3737444"/>
          </a:xfrm>
          <a:custGeom>
            <a:avLst/>
            <a:gdLst/>
            <a:ahLst/>
            <a:cxnLst/>
            <a:rect l="l" t="t" r="r" b="b"/>
            <a:pathLst>
              <a:path w="3799620" h="3737444">
                <a:moveTo>
                  <a:pt x="0" y="0"/>
                </a:moveTo>
                <a:lnTo>
                  <a:pt x="3799620" y="0"/>
                </a:lnTo>
                <a:lnTo>
                  <a:pt x="3799620" y="3737444"/>
                </a:lnTo>
                <a:lnTo>
                  <a:pt x="0" y="373744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3" name="Freeform 3"/>
          <p:cNvSpPr/>
          <p:nvPr/>
        </p:nvSpPr>
        <p:spPr>
          <a:xfrm>
            <a:off x="16304700" y="5758219"/>
            <a:ext cx="4393658" cy="4393658"/>
          </a:xfrm>
          <a:custGeom>
            <a:avLst/>
            <a:gdLst/>
            <a:ahLst/>
            <a:cxnLst/>
            <a:rect l="l" t="t" r="r" b="b"/>
            <a:pathLst>
              <a:path w="4393658" h="4393658">
                <a:moveTo>
                  <a:pt x="0" y="0"/>
                </a:moveTo>
                <a:lnTo>
                  <a:pt x="4393658" y="0"/>
                </a:lnTo>
                <a:lnTo>
                  <a:pt x="4393658" y="4393658"/>
                </a:lnTo>
                <a:lnTo>
                  <a:pt x="0" y="43936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1539129" y="155703"/>
            <a:ext cx="14765572" cy="872997"/>
          </a:xfrm>
          <a:prstGeom prst="rect">
            <a:avLst/>
          </a:prstGeom>
        </p:spPr>
        <p:txBody>
          <a:bodyPr lIns="0" tIns="0" rIns="0" bIns="0" rtlCol="0" anchor="t">
            <a:spAutoFit/>
          </a:bodyPr>
          <a:lstStyle/>
          <a:p>
            <a:pPr algn="ctr">
              <a:lnSpc>
                <a:spcPts val="6565"/>
              </a:lnSpc>
            </a:pPr>
            <a:r>
              <a:rPr lang="en-US" sz="6699" b="1">
                <a:solidFill>
                  <a:srgbClr val="002566"/>
                </a:solidFill>
                <a:latin typeface="Sarabun Bold"/>
                <a:ea typeface="Sarabun Bold"/>
                <a:cs typeface="Sarabun Bold"/>
                <a:sym typeface="Sarabun Bold"/>
              </a:rPr>
              <a:t>FRONTEND</a:t>
            </a:r>
          </a:p>
        </p:txBody>
      </p:sp>
      <p:sp>
        <p:nvSpPr>
          <p:cNvPr id="5" name="TextBox 5"/>
          <p:cNvSpPr txBox="1"/>
          <p:nvPr/>
        </p:nvSpPr>
        <p:spPr>
          <a:xfrm>
            <a:off x="4715246" y="2662700"/>
            <a:ext cx="9527543" cy="1461522"/>
          </a:xfrm>
          <a:prstGeom prst="rect">
            <a:avLst/>
          </a:prstGeom>
        </p:spPr>
        <p:txBody>
          <a:bodyPr lIns="0" tIns="0" rIns="0" bIns="0" rtlCol="0" anchor="t">
            <a:spAutoFit/>
          </a:bodyPr>
          <a:lstStyle/>
          <a:p>
            <a:pPr algn="ctr">
              <a:lnSpc>
                <a:spcPts val="3968"/>
              </a:lnSpc>
              <a:spcBef>
                <a:spcPct val="0"/>
              </a:spcBef>
            </a:pPr>
            <a:r>
              <a:rPr lang="en-US" sz="2834" b="1" u="sng">
                <a:solidFill>
                  <a:srgbClr val="002566"/>
                </a:solidFill>
                <a:latin typeface="Sarabun Bold"/>
                <a:ea typeface="Sarabun Bold"/>
                <a:cs typeface="Sarabun Bold"/>
                <a:sym typeface="Sarabun Bold"/>
              </a:rPr>
              <a:t>Runs on the real engine</a:t>
            </a:r>
            <a:r>
              <a:rPr lang="en-US" sz="2834">
                <a:solidFill>
                  <a:srgbClr val="002566"/>
                </a:solidFill>
                <a:latin typeface="Sarabun"/>
                <a:ea typeface="Sarabun"/>
                <a:cs typeface="Sarabun"/>
                <a:sym typeface="Sarabun"/>
              </a:rPr>
              <a:t>: a local C++11 server links the TIVIDY engine directly, so every click calls real engine classes. Nothing is simulated in the browser.</a:t>
            </a:r>
          </a:p>
        </p:txBody>
      </p:sp>
      <p:sp>
        <p:nvSpPr>
          <p:cNvPr id="6" name="TextBox 6"/>
          <p:cNvSpPr txBox="1"/>
          <p:nvPr/>
        </p:nvSpPr>
        <p:spPr>
          <a:xfrm>
            <a:off x="6175854" y="1267300"/>
            <a:ext cx="5492122" cy="710458"/>
          </a:xfrm>
          <a:prstGeom prst="rect">
            <a:avLst/>
          </a:prstGeom>
        </p:spPr>
        <p:txBody>
          <a:bodyPr lIns="0" tIns="0" rIns="0" bIns="0" rtlCol="0" anchor="t">
            <a:spAutoFit/>
          </a:bodyPr>
          <a:lstStyle/>
          <a:p>
            <a:pPr algn="ctr">
              <a:lnSpc>
                <a:spcPts val="5831"/>
              </a:lnSpc>
            </a:pPr>
            <a:r>
              <a:rPr lang="en-US" sz="4165" b="1">
                <a:solidFill>
                  <a:srgbClr val="002566"/>
                </a:solidFill>
                <a:latin typeface="Canva Sans Bold"/>
                <a:ea typeface="Canva Sans Bold"/>
                <a:cs typeface="Canva Sans Bold"/>
                <a:sym typeface="Canva Sans Bold"/>
              </a:rPr>
              <a:t>TIVIDY Web Interface</a:t>
            </a:r>
          </a:p>
        </p:txBody>
      </p:sp>
      <p:sp>
        <p:nvSpPr>
          <p:cNvPr id="7" name="TextBox 7"/>
          <p:cNvSpPr txBox="1"/>
          <p:nvPr/>
        </p:nvSpPr>
        <p:spPr>
          <a:xfrm>
            <a:off x="4715246" y="4508256"/>
            <a:ext cx="9527543" cy="1957000"/>
          </a:xfrm>
          <a:prstGeom prst="rect">
            <a:avLst/>
          </a:prstGeom>
        </p:spPr>
        <p:txBody>
          <a:bodyPr lIns="0" tIns="0" rIns="0" bIns="0" rtlCol="0" anchor="t">
            <a:spAutoFit/>
          </a:bodyPr>
          <a:lstStyle/>
          <a:p>
            <a:pPr algn="ctr">
              <a:lnSpc>
                <a:spcPts val="3958"/>
              </a:lnSpc>
            </a:pPr>
            <a:r>
              <a:rPr lang="en-US" sz="2827" b="1" u="sng">
                <a:solidFill>
                  <a:srgbClr val="002566"/>
                </a:solidFill>
                <a:latin typeface="Canva Sans Bold"/>
                <a:ea typeface="Canva Sans Bold"/>
                <a:cs typeface="Canva Sans Bold"/>
                <a:sym typeface="Canva Sans Bold"/>
              </a:rPr>
              <a:t>One generic engine, any industry</a:t>
            </a:r>
            <a:r>
              <a:rPr lang="en-US" sz="2827">
                <a:solidFill>
                  <a:srgbClr val="002566"/>
                </a:solidFill>
                <a:latin typeface="Canva Sans"/>
                <a:ea typeface="Canva Sans"/>
                <a:cs typeface="Canva Sans"/>
                <a:sym typeface="Canva Sans"/>
              </a:rPr>
              <a:t>: University admission and Patient booking are templates in the same six-step workflow, and new industries can be modelled live without changing engine code.</a:t>
            </a:r>
          </a:p>
        </p:txBody>
      </p:sp>
      <p:sp>
        <p:nvSpPr>
          <p:cNvPr id="8" name="TextBox 8"/>
          <p:cNvSpPr txBox="1"/>
          <p:nvPr/>
        </p:nvSpPr>
        <p:spPr>
          <a:xfrm>
            <a:off x="4715246" y="6846256"/>
            <a:ext cx="9527543" cy="1956943"/>
          </a:xfrm>
          <a:prstGeom prst="rect">
            <a:avLst/>
          </a:prstGeom>
        </p:spPr>
        <p:txBody>
          <a:bodyPr lIns="0" tIns="0" rIns="0" bIns="0" rtlCol="0" anchor="t">
            <a:spAutoFit/>
          </a:bodyPr>
          <a:lstStyle/>
          <a:p>
            <a:pPr algn="ctr">
              <a:lnSpc>
                <a:spcPts val="3961"/>
              </a:lnSpc>
            </a:pPr>
            <a:r>
              <a:rPr lang="en-US" sz="2829" b="1" u="sng">
                <a:solidFill>
                  <a:srgbClr val="002566"/>
                </a:solidFill>
                <a:latin typeface="Canva Sans Bold"/>
                <a:ea typeface="Canva Sans Bold"/>
                <a:cs typeface="Canva Sans Bold"/>
                <a:sym typeface="Canva Sans Bold"/>
              </a:rPr>
              <a:t>Design patterns in action:</a:t>
            </a:r>
            <a:r>
              <a:rPr lang="en-US" sz="2829">
                <a:solidFill>
                  <a:srgbClr val="002566"/>
                </a:solidFill>
                <a:latin typeface="Canva Sans"/>
                <a:ea typeface="Canva Sans"/>
                <a:cs typeface="Canva Sans"/>
                <a:sym typeface="Canva Sans"/>
              </a:rPr>
              <a:t> after each action, a live panel shows which GoF patterns and classes took part, and a dedicated tab separates the reusable engine from scenario-specific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rot="-2700000">
            <a:off x="3950793" y="-2108440"/>
            <a:ext cx="8275470" cy="9757183"/>
            <a:chOff x="0" y="0"/>
            <a:chExt cx="2179548" cy="2569793"/>
          </a:xfrm>
        </p:grpSpPr>
        <p:sp>
          <p:nvSpPr>
            <p:cNvPr id="3" name="Freeform 3"/>
            <p:cNvSpPr/>
            <p:nvPr/>
          </p:nvSpPr>
          <p:spPr>
            <a:xfrm>
              <a:off x="0" y="0"/>
              <a:ext cx="2179548" cy="2569793"/>
            </a:xfrm>
            <a:custGeom>
              <a:avLst/>
              <a:gdLst/>
              <a:ahLst/>
              <a:cxnLst/>
              <a:rect l="l" t="t" r="r" b="b"/>
              <a:pathLst>
                <a:path w="2179548" h="2569793">
                  <a:moveTo>
                    <a:pt x="47712" y="0"/>
                  </a:moveTo>
                  <a:lnTo>
                    <a:pt x="2131836" y="0"/>
                  </a:lnTo>
                  <a:cubicBezTo>
                    <a:pt x="2144490" y="0"/>
                    <a:pt x="2156625" y="5027"/>
                    <a:pt x="2165573" y="13974"/>
                  </a:cubicBezTo>
                  <a:cubicBezTo>
                    <a:pt x="2174521" y="22922"/>
                    <a:pt x="2179548" y="35058"/>
                    <a:pt x="2179548" y="47712"/>
                  </a:cubicBezTo>
                  <a:lnTo>
                    <a:pt x="2179548" y="2522081"/>
                  </a:lnTo>
                  <a:cubicBezTo>
                    <a:pt x="2179548" y="2534735"/>
                    <a:pt x="2174521" y="2546871"/>
                    <a:pt x="2165573" y="2555819"/>
                  </a:cubicBezTo>
                  <a:cubicBezTo>
                    <a:pt x="2156625" y="2564766"/>
                    <a:pt x="2144490" y="2569793"/>
                    <a:pt x="2131836" y="2569793"/>
                  </a:cubicBezTo>
                  <a:lnTo>
                    <a:pt x="47712" y="2569793"/>
                  </a:lnTo>
                  <a:cubicBezTo>
                    <a:pt x="35058" y="2569793"/>
                    <a:pt x="22922" y="2564766"/>
                    <a:pt x="13974" y="2555819"/>
                  </a:cubicBezTo>
                  <a:cubicBezTo>
                    <a:pt x="5027" y="2546871"/>
                    <a:pt x="0" y="2534735"/>
                    <a:pt x="0" y="2522081"/>
                  </a:cubicBezTo>
                  <a:lnTo>
                    <a:pt x="0" y="47712"/>
                  </a:lnTo>
                  <a:cubicBezTo>
                    <a:pt x="0" y="35058"/>
                    <a:pt x="5027" y="22922"/>
                    <a:pt x="13974" y="13974"/>
                  </a:cubicBezTo>
                  <a:cubicBezTo>
                    <a:pt x="22922" y="5027"/>
                    <a:pt x="35058" y="0"/>
                    <a:pt x="47712" y="0"/>
                  </a:cubicBezTo>
                  <a:close/>
                </a:path>
              </a:pathLst>
            </a:custGeom>
            <a:solidFill>
              <a:srgbClr val="002566">
                <a:alpha val="25882"/>
              </a:srgbClr>
            </a:solidFill>
          </p:spPr>
          <p:txBody>
            <a:bodyPr/>
            <a:lstStyle/>
            <a:p>
              <a:endParaRPr lang="en-ZA"/>
            </a:p>
          </p:txBody>
        </p:sp>
        <p:sp>
          <p:nvSpPr>
            <p:cNvPr id="4" name="TextBox 4"/>
            <p:cNvSpPr txBox="1"/>
            <p:nvPr/>
          </p:nvSpPr>
          <p:spPr>
            <a:xfrm>
              <a:off x="0" y="-28575"/>
              <a:ext cx="2179548" cy="259836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2700000">
            <a:off x="6083269" y="-2937058"/>
            <a:ext cx="10629179" cy="13177170"/>
            <a:chOff x="0" y="0"/>
            <a:chExt cx="2799455" cy="3470530"/>
          </a:xfrm>
        </p:grpSpPr>
        <p:sp>
          <p:nvSpPr>
            <p:cNvPr id="6" name="Freeform 6"/>
            <p:cNvSpPr/>
            <p:nvPr/>
          </p:nvSpPr>
          <p:spPr>
            <a:xfrm>
              <a:off x="0" y="0"/>
              <a:ext cx="2799455" cy="3470530"/>
            </a:xfrm>
            <a:custGeom>
              <a:avLst/>
              <a:gdLst/>
              <a:ahLst/>
              <a:cxnLst/>
              <a:rect l="l" t="t" r="r" b="b"/>
              <a:pathLst>
                <a:path w="2799455" h="3470530">
                  <a:moveTo>
                    <a:pt x="37147" y="0"/>
                  </a:moveTo>
                  <a:lnTo>
                    <a:pt x="2762308" y="0"/>
                  </a:lnTo>
                  <a:cubicBezTo>
                    <a:pt x="2782824" y="0"/>
                    <a:pt x="2799455" y="16631"/>
                    <a:pt x="2799455" y="37147"/>
                  </a:cubicBezTo>
                  <a:lnTo>
                    <a:pt x="2799455" y="3433384"/>
                  </a:lnTo>
                  <a:cubicBezTo>
                    <a:pt x="2799455" y="3443236"/>
                    <a:pt x="2795541" y="3452684"/>
                    <a:pt x="2788575" y="3459650"/>
                  </a:cubicBezTo>
                  <a:cubicBezTo>
                    <a:pt x="2781608" y="3466617"/>
                    <a:pt x="2772160" y="3470530"/>
                    <a:pt x="2762308" y="3470530"/>
                  </a:cubicBezTo>
                  <a:lnTo>
                    <a:pt x="37147" y="3470530"/>
                  </a:lnTo>
                  <a:cubicBezTo>
                    <a:pt x="27295" y="3470530"/>
                    <a:pt x="17846" y="3466617"/>
                    <a:pt x="10880" y="3459650"/>
                  </a:cubicBezTo>
                  <a:cubicBezTo>
                    <a:pt x="3914" y="3452684"/>
                    <a:pt x="0" y="3443236"/>
                    <a:pt x="0" y="3433384"/>
                  </a:cubicBezTo>
                  <a:lnTo>
                    <a:pt x="0" y="37147"/>
                  </a:lnTo>
                  <a:cubicBezTo>
                    <a:pt x="0" y="27295"/>
                    <a:pt x="3914" y="17846"/>
                    <a:pt x="10880" y="10880"/>
                  </a:cubicBezTo>
                  <a:cubicBezTo>
                    <a:pt x="17846" y="3914"/>
                    <a:pt x="27295" y="0"/>
                    <a:pt x="37147" y="0"/>
                  </a:cubicBezTo>
                  <a:close/>
                </a:path>
              </a:pathLst>
            </a:custGeom>
            <a:solidFill>
              <a:srgbClr val="002566"/>
            </a:solidFill>
          </p:spPr>
          <p:txBody>
            <a:bodyPr/>
            <a:lstStyle/>
            <a:p>
              <a:endParaRPr lang="en-ZA"/>
            </a:p>
          </p:txBody>
        </p:sp>
        <p:sp>
          <p:nvSpPr>
            <p:cNvPr id="7" name="TextBox 7"/>
            <p:cNvSpPr txBox="1"/>
            <p:nvPr/>
          </p:nvSpPr>
          <p:spPr>
            <a:xfrm>
              <a:off x="0" y="-28575"/>
              <a:ext cx="2799455" cy="349910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700000">
            <a:off x="-6742410" y="1726526"/>
            <a:ext cx="10629179" cy="11637912"/>
            <a:chOff x="0" y="0"/>
            <a:chExt cx="2799455" cy="3065129"/>
          </a:xfrm>
        </p:grpSpPr>
        <p:sp>
          <p:nvSpPr>
            <p:cNvPr id="9" name="Freeform 9"/>
            <p:cNvSpPr/>
            <p:nvPr/>
          </p:nvSpPr>
          <p:spPr>
            <a:xfrm>
              <a:off x="0" y="0"/>
              <a:ext cx="2799455" cy="3065129"/>
            </a:xfrm>
            <a:custGeom>
              <a:avLst/>
              <a:gdLst/>
              <a:ahLst/>
              <a:cxnLst/>
              <a:rect l="l" t="t" r="r" b="b"/>
              <a:pathLst>
                <a:path w="2799455" h="3065129">
                  <a:moveTo>
                    <a:pt x="37147" y="0"/>
                  </a:moveTo>
                  <a:lnTo>
                    <a:pt x="2762308" y="0"/>
                  </a:lnTo>
                  <a:cubicBezTo>
                    <a:pt x="2782824" y="0"/>
                    <a:pt x="2799455" y="16631"/>
                    <a:pt x="2799455" y="37147"/>
                  </a:cubicBezTo>
                  <a:lnTo>
                    <a:pt x="2799455" y="3027983"/>
                  </a:lnTo>
                  <a:cubicBezTo>
                    <a:pt x="2799455" y="3037835"/>
                    <a:pt x="2795541" y="3047283"/>
                    <a:pt x="2788575" y="3054249"/>
                  </a:cubicBezTo>
                  <a:cubicBezTo>
                    <a:pt x="2781608" y="3061215"/>
                    <a:pt x="2772160" y="3065129"/>
                    <a:pt x="2762308" y="3065129"/>
                  </a:cubicBezTo>
                  <a:lnTo>
                    <a:pt x="37147" y="3065129"/>
                  </a:lnTo>
                  <a:cubicBezTo>
                    <a:pt x="27295" y="3065129"/>
                    <a:pt x="17846" y="3061215"/>
                    <a:pt x="10880" y="3054249"/>
                  </a:cubicBezTo>
                  <a:cubicBezTo>
                    <a:pt x="3914" y="3047283"/>
                    <a:pt x="0" y="3037835"/>
                    <a:pt x="0" y="3027983"/>
                  </a:cubicBezTo>
                  <a:lnTo>
                    <a:pt x="0" y="37147"/>
                  </a:lnTo>
                  <a:cubicBezTo>
                    <a:pt x="0" y="27295"/>
                    <a:pt x="3914" y="17846"/>
                    <a:pt x="10880" y="10880"/>
                  </a:cubicBezTo>
                  <a:cubicBezTo>
                    <a:pt x="17846" y="3914"/>
                    <a:pt x="27295" y="0"/>
                    <a:pt x="37147" y="0"/>
                  </a:cubicBezTo>
                  <a:close/>
                </a:path>
              </a:pathLst>
            </a:custGeom>
            <a:solidFill>
              <a:srgbClr val="002566"/>
            </a:solidFill>
          </p:spPr>
          <p:txBody>
            <a:bodyPr/>
            <a:lstStyle/>
            <a:p>
              <a:endParaRPr lang="en-ZA"/>
            </a:p>
          </p:txBody>
        </p:sp>
        <p:sp>
          <p:nvSpPr>
            <p:cNvPr id="10" name="TextBox 10"/>
            <p:cNvSpPr txBox="1"/>
            <p:nvPr/>
          </p:nvSpPr>
          <p:spPr>
            <a:xfrm>
              <a:off x="0" y="-28575"/>
              <a:ext cx="2799455" cy="3093704"/>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5823238" y="3482974"/>
            <a:ext cx="10620170" cy="1660526"/>
          </a:xfrm>
          <a:prstGeom prst="rect">
            <a:avLst/>
          </a:prstGeom>
        </p:spPr>
        <p:txBody>
          <a:bodyPr lIns="0" tIns="0" rIns="0" bIns="0" rtlCol="0" anchor="t">
            <a:spAutoFit/>
          </a:bodyPr>
          <a:lstStyle/>
          <a:p>
            <a:pPr algn="r">
              <a:lnSpc>
                <a:spcPts val="12500"/>
              </a:lnSpc>
            </a:pPr>
            <a:r>
              <a:rPr lang="en-US" sz="12500" b="1">
                <a:solidFill>
                  <a:srgbClr val="FFFFFF"/>
                </a:solidFill>
                <a:latin typeface="Sarabun Bold"/>
                <a:ea typeface="Sarabun Bold"/>
                <a:cs typeface="Sarabun Bold"/>
                <a:sym typeface="Sarabun Bold"/>
              </a:rPr>
              <a:t>LIVE DEMO</a:t>
            </a:r>
          </a:p>
        </p:txBody>
      </p:sp>
      <p:sp>
        <p:nvSpPr>
          <p:cNvPr id="12" name="TextBox 12"/>
          <p:cNvSpPr txBox="1"/>
          <p:nvPr/>
        </p:nvSpPr>
        <p:spPr>
          <a:xfrm>
            <a:off x="-501590" y="7482515"/>
            <a:ext cx="5722116" cy="523246"/>
          </a:xfrm>
          <a:prstGeom prst="rect">
            <a:avLst/>
          </a:prstGeom>
        </p:spPr>
        <p:txBody>
          <a:bodyPr lIns="0" tIns="0" rIns="0" bIns="0" rtlCol="0" anchor="t">
            <a:spAutoFit/>
          </a:bodyPr>
          <a:lstStyle/>
          <a:p>
            <a:pPr algn="r">
              <a:lnSpc>
                <a:spcPts val="4070"/>
              </a:lnSpc>
            </a:pPr>
            <a:r>
              <a:rPr lang="en-US" sz="3700" i="1">
                <a:solidFill>
                  <a:srgbClr val="FFFFFF"/>
                </a:solidFill>
                <a:latin typeface="Sarabun Italics"/>
                <a:ea typeface="Sarabun Italics"/>
                <a:cs typeface="Sarabun Italics"/>
                <a:sym typeface="Sarabun Italics"/>
              </a:rPr>
              <a:t>And Questions?</a:t>
            </a:r>
          </a:p>
        </p:txBody>
      </p:sp>
      <p:sp>
        <p:nvSpPr>
          <p:cNvPr id="13" name="AutoShape 13"/>
          <p:cNvSpPr/>
          <p:nvPr/>
        </p:nvSpPr>
        <p:spPr>
          <a:xfrm flipV="1">
            <a:off x="1789223" y="8288375"/>
            <a:ext cx="3507503" cy="70692"/>
          </a:xfrm>
          <a:prstGeom prst="line">
            <a:avLst/>
          </a:prstGeom>
          <a:ln w="38100" cap="flat">
            <a:solidFill>
              <a:srgbClr val="FFFFFF"/>
            </a:solidFill>
            <a:prstDash val="solid"/>
            <a:headEnd type="none" w="sm" len="sm"/>
            <a:tailEnd type="none" w="sm" len="sm"/>
          </a:ln>
        </p:spPr>
        <p:txBody>
          <a:bodyPr/>
          <a:lstStyle/>
          <a:p>
            <a:endParaRPr lang="en-ZA"/>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rot="-2200946">
            <a:off x="-3415698" y="-1152283"/>
            <a:ext cx="12019375" cy="12893129"/>
            <a:chOff x="0" y="0"/>
            <a:chExt cx="2991969" cy="3209471"/>
          </a:xfrm>
        </p:grpSpPr>
        <p:sp>
          <p:nvSpPr>
            <p:cNvPr id="3" name="Freeform 3"/>
            <p:cNvSpPr/>
            <p:nvPr/>
          </p:nvSpPr>
          <p:spPr>
            <a:xfrm>
              <a:off x="0" y="0"/>
              <a:ext cx="2991969" cy="3209471"/>
            </a:xfrm>
            <a:custGeom>
              <a:avLst/>
              <a:gdLst/>
              <a:ahLst/>
              <a:cxnLst/>
              <a:rect l="l" t="t" r="r" b="b"/>
              <a:pathLst>
                <a:path w="2991969" h="3209471">
                  <a:moveTo>
                    <a:pt x="32850" y="0"/>
                  </a:moveTo>
                  <a:lnTo>
                    <a:pt x="2959118" y="0"/>
                  </a:lnTo>
                  <a:cubicBezTo>
                    <a:pt x="2967831" y="0"/>
                    <a:pt x="2976186" y="3461"/>
                    <a:pt x="2982347" y="9622"/>
                  </a:cubicBezTo>
                  <a:cubicBezTo>
                    <a:pt x="2988508" y="15782"/>
                    <a:pt x="2991969" y="24138"/>
                    <a:pt x="2991969" y="32850"/>
                  </a:cubicBezTo>
                  <a:lnTo>
                    <a:pt x="2991969" y="3176621"/>
                  </a:lnTo>
                  <a:cubicBezTo>
                    <a:pt x="2991969" y="3185333"/>
                    <a:pt x="2988508" y="3193689"/>
                    <a:pt x="2982347" y="3199849"/>
                  </a:cubicBezTo>
                  <a:cubicBezTo>
                    <a:pt x="2976186" y="3206010"/>
                    <a:pt x="2967831" y="3209471"/>
                    <a:pt x="2959118" y="3209471"/>
                  </a:cubicBezTo>
                  <a:lnTo>
                    <a:pt x="32850" y="3209471"/>
                  </a:lnTo>
                  <a:cubicBezTo>
                    <a:pt x="14708" y="3209471"/>
                    <a:pt x="0" y="3194764"/>
                    <a:pt x="0" y="3176621"/>
                  </a:cubicBezTo>
                  <a:lnTo>
                    <a:pt x="0" y="32850"/>
                  </a:lnTo>
                  <a:cubicBezTo>
                    <a:pt x="0" y="24138"/>
                    <a:pt x="3461" y="15782"/>
                    <a:pt x="9622" y="9622"/>
                  </a:cubicBezTo>
                  <a:cubicBezTo>
                    <a:pt x="15782" y="3461"/>
                    <a:pt x="24138" y="0"/>
                    <a:pt x="32850" y="0"/>
                  </a:cubicBezTo>
                  <a:close/>
                </a:path>
              </a:pathLst>
            </a:custGeom>
            <a:solidFill>
              <a:srgbClr val="002566">
                <a:alpha val="13725"/>
              </a:srgbClr>
            </a:solidFill>
          </p:spPr>
          <p:txBody>
            <a:bodyPr/>
            <a:lstStyle/>
            <a:p>
              <a:endParaRPr lang="en-ZA"/>
            </a:p>
          </p:txBody>
        </p:sp>
        <p:sp>
          <p:nvSpPr>
            <p:cNvPr id="4" name="TextBox 4"/>
            <p:cNvSpPr txBox="1"/>
            <p:nvPr/>
          </p:nvSpPr>
          <p:spPr>
            <a:xfrm>
              <a:off x="0" y="-28575"/>
              <a:ext cx="2991969" cy="323804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200946">
            <a:off x="-2867185" y="-2631682"/>
            <a:ext cx="12019375" cy="12893129"/>
            <a:chOff x="0" y="0"/>
            <a:chExt cx="2991969" cy="3209471"/>
          </a:xfrm>
        </p:grpSpPr>
        <p:sp>
          <p:nvSpPr>
            <p:cNvPr id="6" name="Freeform 6"/>
            <p:cNvSpPr/>
            <p:nvPr/>
          </p:nvSpPr>
          <p:spPr>
            <a:xfrm>
              <a:off x="0" y="0"/>
              <a:ext cx="2991969" cy="3209471"/>
            </a:xfrm>
            <a:custGeom>
              <a:avLst/>
              <a:gdLst/>
              <a:ahLst/>
              <a:cxnLst/>
              <a:rect l="l" t="t" r="r" b="b"/>
              <a:pathLst>
                <a:path w="2991969" h="3209471">
                  <a:moveTo>
                    <a:pt x="32850" y="0"/>
                  </a:moveTo>
                  <a:lnTo>
                    <a:pt x="2959118" y="0"/>
                  </a:lnTo>
                  <a:cubicBezTo>
                    <a:pt x="2967831" y="0"/>
                    <a:pt x="2976186" y="3461"/>
                    <a:pt x="2982347" y="9622"/>
                  </a:cubicBezTo>
                  <a:cubicBezTo>
                    <a:pt x="2988508" y="15782"/>
                    <a:pt x="2991969" y="24138"/>
                    <a:pt x="2991969" y="32850"/>
                  </a:cubicBezTo>
                  <a:lnTo>
                    <a:pt x="2991969" y="3176621"/>
                  </a:lnTo>
                  <a:cubicBezTo>
                    <a:pt x="2991969" y="3185333"/>
                    <a:pt x="2988508" y="3193689"/>
                    <a:pt x="2982347" y="3199849"/>
                  </a:cubicBezTo>
                  <a:cubicBezTo>
                    <a:pt x="2976186" y="3206010"/>
                    <a:pt x="2967831" y="3209471"/>
                    <a:pt x="2959118" y="3209471"/>
                  </a:cubicBezTo>
                  <a:lnTo>
                    <a:pt x="32850" y="3209471"/>
                  </a:lnTo>
                  <a:cubicBezTo>
                    <a:pt x="14708" y="3209471"/>
                    <a:pt x="0" y="3194764"/>
                    <a:pt x="0" y="3176621"/>
                  </a:cubicBezTo>
                  <a:lnTo>
                    <a:pt x="0" y="32850"/>
                  </a:lnTo>
                  <a:cubicBezTo>
                    <a:pt x="0" y="24138"/>
                    <a:pt x="3461" y="15782"/>
                    <a:pt x="9622" y="9622"/>
                  </a:cubicBezTo>
                  <a:cubicBezTo>
                    <a:pt x="15782" y="3461"/>
                    <a:pt x="24138" y="0"/>
                    <a:pt x="32850" y="0"/>
                  </a:cubicBezTo>
                  <a:close/>
                </a:path>
              </a:pathLst>
            </a:custGeom>
            <a:solidFill>
              <a:srgbClr val="002566"/>
            </a:solidFill>
          </p:spPr>
          <p:txBody>
            <a:bodyPr/>
            <a:lstStyle/>
            <a:p>
              <a:endParaRPr lang="en-ZA"/>
            </a:p>
          </p:txBody>
        </p:sp>
        <p:sp>
          <p:nvSpPr>
            <p:cNvPr id="7" name="TextBox 7"/>
            <p:cNvSpPr txBox="1"/>
            <p:nvPr/>
          </p:nvSpPr>
          <p:spPr>
            <a:xfrm>
              <a:off x="0" y="-28575"/>
              <a:ext cx="2991969" cy="3238046"/>
            </a:xfrm>
            <a:prstGeom prst="rect">
              <a:avLst/>
            </a:prstGeom>
          </p:spPr>
          <p:txBody>
            <a:bodyPr lIns="50800" tIns="50800" rIns="50800" bIns="50800" rtlCol="0" anchor="ctr"/>
            <a:lstStyle/>
            <a:p>
              <a:pPr algn="ctr">
                <a:lnSpc>
                  <a:spcPts val="2659"/>
                </a:lnSpc>
              </a:pPr>
              <a:endParaRPr/>
            </a:p>
          </p:txBody>
        </p:sp>
      </p:grpSp>
      <p:pic>
        <p:nvPicPr>
          <p:cNvPr id="8" name="Picture 8"/>
          <p:cNvPicPr>
            <a:picLocks noChangeAspect="1"/>
          </p:cNvPicPr>
          <p:nvPr/>
        </p:nvPicPr>
        <p:blipFill>
          <a:blip r:embed="rId2"/>
          <a:stretch>
            <a:fillRect/>
          </a:stretch>
        </p:blipFill>
        <p:spPr>
          <a:xfrm>
            <a:off x="11279111" y="1977966"/>
            <a:ext cx="6407438" cy="6848850"/>
          </a:xfrm>
          <a:prstGeom prst="rect">
            <a:avLst/>
          </a:prstGeom>
        </p:spPr>
      </p:pic>
      <p:sp>
        <p:nvSpPr>
          <p:cNvPr id="9" name="Freeform 9"/>
          <p:cNvSpPr/>
          <p:nvPr/>
        </p:nvSpPr>
        <p:spPr>
          <a:xfrm>
            <a:off x="614699" y="652053"/>
            <a:ext cx="828002" cy="2347429"/>
          </a:xfrm>
          <a:custGeom>
            <a:avLst/>
            <a:gdLst/>
            <a:ahLst/>
            <a:cxnLst/>
            <a:rect l="l" t="t" r="r" b="b"/>
            <a:pathLst>
              <a:path w="828002" h="2347429">
                <a:moveTo>
                  <a:pt x="0" y="0"/>
                </a:moveTo>
                <a:lnTo>
                  <a:pt x="828002" y="0"/>
                </a:lnTo>
                <a:lnTo>
                  <a:pt x="828002" y="2347429"/>
                </a:lnTo>
                <a:lnTo>
                  <a:pt x="0" y="23474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0" name="TextBox 10"/>
          <p:cNvSpPr txBox="1"/>
          <p:nvPr/>
        </p:nvSpPr>
        <p:spPr>
          <a:xfrm>
            <a:off x="2185386" y="709203"/>
            <a:ext cx="6726444" cy="670566"/>
          </a:xfrm>
          <a:prstGeom prst="rect">
            <a:avLst/>
          </a:prstGeom>
        </p:spPr>
        <p:txBody>
          <a:bodyPr lIns="0" tIns="0" rIns="0" bIns="0" rtlCol="0" anchor="t">
            <a:spAutoFit/>
          </a:bodyPr>
          <a:lstStyle/>
          <a:p>
            <a:pPr algn="l">
              <a:lnSpc>
                <a:spcPts val="5280"/>
              </a:lnSpc>
            </a:pPr>
            <a:r>
              <a:rPr lang="en-US" sz="4800" b="1">
                <a:solidFill>
                  <a:srgbClr val="FFFFFF"/>
                </a:solidFill>
                <a:latin typeface="Sarabun Bold"/>
                <a:ea typeface="Sarabun Bold"/>
                <a:cs typeface="Sarabun Bold"/>
                <a:sym typeface="Sarabun Bold"/>
              </a:rPr>
              <a:t>TESTING</a:t>
            </a:r>
          </a:p>
        </p:txBody>
      </p:sp>
      <p:sp>
        <p:nvSpPr>
          <p:cNvPr id="11" name="TextBox 11"/>
          <p:cNvSpPr txBox="1"/>
          <p:nvPr/>
        </p:nvSpPr>
        <p:spPr>
          <a:xfrm>
            <a:off x="2185386" y="4129178"/>
            <a:ext cx="5953371" cy="4378331"/>
          </a:xfrm>
          <a:prstGeom prst="rect">
            <a:avLst/>
          </a:prstGeom>
        </p:spPr>
        <p:txBody>
          <a:bodyPr lIns="0" tIns="0" rIns="0" bIns="0" rtlCol="0" anchor="t">
            <a:spAutoFit/>
          </a:bodyPr>
          <a:lstStyle/>
          <a:p>
            <a:pPr algn="l">
              <a:lnSpc>
                <a:spcPts val="3850"/>
              </a:lnSpc>
            </a:pPr>
            <a:r>
              <a:rPr lang="en-US" sz="3500">
                <a:solidFill>
                  <a:srgbClr val="FFFFFF"/>
                </a:solidFill>
                <a:latin typeface="Sarabun"/>
                <a:ea typeface="Sarabun"/>
                <a:cs typeface="Sarabun"/>
                <a:sym typeface="Sarabun"/>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rot="-1693811">
            <a:off x="8635485" y="-485258"/>
            <a:ext cx="11156868" cy="15883501"/>
            <a:chOff x="0" y="0"/>
            <a:chExt cx="2938434" cy="4183309"/>
          </a:xfrm>
        </p:grpSpPr>
        <p:sp>
          <p:nvSpPr>
            <p:cNvPr id="3" name="Freeform 3"/>
            <p:cNvSpPr/>
            <p:nvPr/>
          </p:nvSpPr>
          <p:spPr>
            <a:xfrm>
              <a:off x="0" y="0"/>
              <a:ext cx="2938434" cy="4183309"/>
            </a:xfrm>
            <a:custGeom>
              <a:avLst/>
              <a:gdLst/>
              <a:ahLst/>
              <a:cxnLst/>
              <a:rect l="l" t="t" r="r" b="b"/>
              <a:pathLst>
                <a:path w="2938434" h="4183309">
                  <a:moveTo>
                    <a:pt x="35390" y="0"/>
                  </a:moveTo>
                  <a:lnTo>
                    <a:pt x="2903045" y="0"/>
                  </a:lnTo>
                  <a:cubicBezTo>
                    <a:pt x="2912431" y="0"/>
                    <a:pt x="2921432" y="3729"/>
                    <a:pt x="2928069" y="10365"/>
                  </a:cubicBezTo>
                  <a:cubicBezTo>
                    <a:pt x="2934706" y="17002"/>
                    <a:pt x="2938434" y="26004"/>
                    <a:pt x="2938434" y="35390"/>
                  </a:cubicBezTo>
                  <a:lnTo>
                    <a:pt x="2938434" y="4147919"/>
                  </a:lnTo>
                  <a:cubicBezTo>
                    <a:pt x="2938434" y="4157305"/>
                    <a:pt x="2934706" y="4166307"/>
                    <a:pt x="2928069" y="4172944"/>
                  </a:cubicBezTo>
                  <a:cubicBezTo>
                    <a:pt x="2921432" y="4179581"/>
                    <a:pt x="2912431" y="4183309"/>
                    <a:pt x="2903045" y="4183309"/>
                  </a:cubicBezTo>
                  <a:lnTo>
                    <a:pt x="35390" y="4183309"/>
                  </a:lnTo>
                  <a:cubicBezTo>
                    <a:pt x="26004" y="4183309"/>
                    <a:pt x="17002" y="4179581"/>
                    <a:pt x="10365" y="4172944"/>
                  </a:cubicBezTo>
                  <a:cubicBezTo>
                    <a:pt x="3729" y="4166307"/>
                    <a:pt x="0" y="4157305"/>
                    <a:pt x="0" y="4147919"/>
                  </a:cubicBezTo>
                  <a:lnTo>
                    <a:pt x="0" y="35390"/>
                  </a:lnTo>
                  <a:cubicBezTo>
                    <a:pt x="0" y="26004"/>
                    <a:pt x="3729" y="17002"/>
                    <a:pt x="10365" y="10365"/>
                  </a:cubicBezTo>
                  <a:cubicBezTo>
                    <a:pt x="17002" y="3729"/>
                    <a:pt x="26004" y="0"/>
                    <a:pt x="35390" y="0"/>
                  </a:cubicBezTo>
                  <a:close/>
                </a:path>
              </a:pathLst>
            </a:custGeom>
            <a:solidFill>
              <a:srgbClr val="002566">
                <a:alpha val="17647"/>
              </a:srgbClr>
            </a:solidFill>
          </p:spPr>
          <p:txBody>
            <a:bodyPr/>
            <a:lstStyle/>
            <a:p>
              <a:endParaRPr lang="en-ZA"/>
            </a:p>
          </p:txBody>
        </p:sp>
        <p:sp>
          <p:nvSpPr>
            <p:cNvPr id="4" name="TextBox 4"/>
            <p:cNvSpPr txBox="1"/>
            <p:nvPr/>
          </p:nvSpPr>
          <p:spPr>
            <a:xfrm>
              <a:off x="0" y="-28575"/>
              <a:ext cx="2938434" cy="4211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1693811">
            <a:off x="8870809" y="-1172444"/>
            <a:ext cx="11156868" cy="15883501"/>
            <a:chOff x="0" y="0"/>
            <a:chExt cx="2938434" cy="4183309"/>
          </a:xfrm>
        </p:grpSpPr>
        <p:sp>
          <p:nvSpPr>
            <p:cNvPr id="6" name="Freeform 6"/>
            <p:cNvSpPr/>
            <p:nvPr/>
          </p:nvSpPr>
          <p:spPr>
            <a:xfrm>
              <a:off x="0" y="0"/>
              <a:ext cx="2938434" cy="4183309"/>
            </a:xfrm>
            <a:custGeom>
              <a:avLst/>
              <a:gdLst/>
              <a:ahLst/>
              <a:cxnLst/>
              <a:rect l="l" t="t" r="r" b="b"/>
              <a:pathLst>
                <a:path w="2938434" h="4183309">
                  <a:moveTo>
                    <a:pt x="35390" y="0"/>
                  </a:moveTo>
                  <a:lnTo>
                    <a:pt x="2903045" y="0"/>
                  </a:lnTo>
                  <a:cubicBezTo>
                    <a:pt x="2912431" y="0"/>
                    <a:pt x="2921432" y="3729"/>
                    <a:pt x="2928069" y="10365"/>
                  </a:cubicBezTo>
                  <a:cubicBezTo>
                    <a:pt x="2934706" y="17002"/>
                    <a:pt x="2938434" y="26004"/>
                    <a:pt x="2938434" y="35390"/>
                  </a:cubicBezTo>
                  <a:lnTo>
                    <a:pt x="2938434" y="4147919"/>
                  </a:lnTo>
                  <a:cubicBezTo>
                    <a:pt x="2938434" y="4157305"/>
                    <a:pt x="2934706" y="4166307"/>
                    <a:pt x="2928069" y="4172944"/>
                  </a:cubicBezTo>
                  <a:cubicBezTo>
                    <a:pt x="2921432" y="4179581"/>
                    <a:pt x="2912431" y="4183309"/>
                    <a:pt x="2903045" y="4183309"/>
                  </a:cubicBezTo>
                  <a:lnTo>
                    <a:pt x="35390" y="4183309"/>
                  </a:lnTo>
                  <a:cubicBezTo>
                    <a:pt x="26004" y="4183309"/>
                    <a:pt x="17002" y="4179581"/>
                    <a:pt x="10365" y="4172944"/>
                  </a:cubicBezTo>
                  <a:cubicBezTo>
                    <a:pt x="3729" y="4166307"/>
                    <a:pt x="0" y="4157305"/>
                    <a:pt x="0" y="4147919"/>
                  </a:cubicBezTo>
                  <a:lnTo>
                    <a:pt x="0" y="35390"/>
                  </a:lnTo>
                  <a:cubicBezTo>
                    <a:pt x="0" y="26004"/>
                    <a:pt x="3729" y="17002"/>
                    <a:pt x="10365" y="10365"/>
                  </a:cubicBezTo>
                  <a:cubicBezTo>
                    <a:pt x="17002" y="3729"/>
                    <a:pt x="26004" y="0"/>
                    <a:pt x="35390" y="0"/>
                  </a:cubicBezTo>
                  <a:close/>
                </a:path>
              </a:pathLst>
            </a:custGeom>
            <a:solidFill>
              <a:srgbClr val="002566"/>
            </a:solidFill>
          </p:spPr>
          <p:txBody>
            <a:bodyPr/>
            <a:lstStyle/>
            <a:p>
              <a:endParaRPr lang="en-ZA"/>
            </a:p>
          </p:txBody>
        </p:sp>
        <p:sp>
          <p:nvSpPr>
            <p:cNvPr id="7" name="TextBox 7"/>
            <p:cNvSpPr txBox="1"/>
            <p:nvPr/>
          </p:nvSpPr>
          <p:spPr>
            <a:xfrm>
              <a:off x="0" y="-28575"/>
              <a:ext cx="2938434" cy="4211884"/>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497663" y="7890188"/>
            <a:ext cx="2611028" cy="4114800"/>
          </a:xfrm>
          <a:custGeom>
            <a:avLst/>
            <a:gdLst/>
            <a:ahLst/>
            <a:cxnLst/>
            <a:rect l="l" t="t" r="r" b="b"/>
            <a:pathLst>
              <a:path w="2611028" h="4114800">
                <a:moveTo>
                  <a:pt x="0" y="0"/>
                </a:moveTo>
                <a:lnTo>
                  <a:pt x="2611027" y="0"/>
                </a:lnTo>
                <a:lnTo>
                  <a:pt x="2611027"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9" name="Freeform 9"/>
          <p:cNvSpPr/>
          <p:nvPr/>
        </p:nvSpPr>
        <p:spPr>
          <a:xfrm>
            <a:off x="172322" y="-490025"/>
            <a:ext cx="2401536" cy="1833900"/>
          </a:xfrm>
          <a:custGeom>
            <a:avLst/>
            <a:gdLst/>
            <a:ahLst/>
            <a:cxnLst/>
            <a:rect l="l" t="t" r="r" b="b"/>
            <a:pathLst>
              <a:path w="2401536" h="1833900">
                <a:moveTo>
                  <a:pt x="0" y="0"/>
                </a:moveTo>
                <a:lnTo>
                  <a:pt x="2401536" y="0"/>
                </a:lnTo>
                <a:lnTo>
                  <a:pt x="2401536" y="1833900"/>
                </a:lnTo>
                <a:lnTo>
                  <a:pt x="0" y="18339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10" name="TextBox 10"/>
          <p:cNvSpPr txBox="1"/>
          <p:nvPr/>
        </p:nvSpPr>
        <p:spPr>
          <a:xfrm>
            <a:off x="1222562" y="1669219"/>
            <a:ext cx="4766218" cy="872997"/>
          </a:xfrm>
          <a:prstGeom prst="rect">
            <a:avLst/>
          </a:prstGeom>
        </p:spPr>
        <p:txBody>
          <a:bodyPr lIns="0" tIns="0" rIns="0" bIns="0" rtlCol="0" anchor="t">
            <a:spAutoFit/>
          </a:bodyPr>
          <a:lstStyle/>
          <a:p>
            <a:pPr algn="l">
              <a:lnSpc>
                <a:spcPts val="6565"/>
              </a:lnSpc>
            </a:pPr>
            <a:r>
              <a:rPr lang="en-US" sz="6699" b="1">
                <a:solidFill>
                  <a:srgbClr val="002566"/>
                </a:solidFill>
                <a:latin typeface="Sarabun Bold"/>
                <a:ea typeface="Sarabun Bold"/>
                <a:cs typeface="Sarabun Bold"/>
                <a:sym typeface="Sarabun Bold"/>
              </a:rPr>
              <a:t>GitHub</a:t>
            </a:r>
          </a:p>
        </p:txBody>
      </p:sp>
      <p:sp>
        <p:nvSpPr>
          <p:cNvPr id="11" name="TextBox 11"/>
          <p:cNvSpPr txBox="1"/>
          <p:nvPr/>
        </p:nvSpPr>
        <p:spPr>
          <a:xfrm>
            <a:off x="1222562" y="4385509"/>
            <a:ext cx="5099666" cy="2184397"/>
          </a:xfrm>
          <a:prstGeom prst="rect">
            <a:avLst/>
          </a:prstGeom>
        </p:spPr>
        <p:txBody>
          <a:bodyPr lIns="0" tIns="0" rIns="0" bIns="0" rtlCol="0" anchor="t">
            <a:spAutoFit/>
          </a:bodyPr>
          <a:lstStyle/>
          <a:p>
            <a:pPr algn="l">
              <a:lnSpc>
                <a:spcPts val="3500"/>
              </a:lnSpc>
            </a:pPr>
            <a:r>
              <a:rPr lang="en-US" sz="2500" b="1" u="sng">
                <a:solidFill>
                  <a:srgbClr val="002566"/>
                </a:solidFill>
                <a:latin typeface="Sarabun Bold"/>
                <a:ea typeface="Sarabun Bold"/>
                <a:cs typeface="Sarabun Bold"/>
                <a:sym typeface="Sarabun Bold"/>
              </a:rPr>
              <a:t>Branching &amp; Pull Requests:</a:t>
            </a:r>
            <a:r>
              <a:rPr lang="en-US" sz="2500" u="sng">
                <a:solidFill>
                  <a:srgbClr val="002566"/>
                </a:solidFill>
                <a:latin typeface="Sarabun"/>
                <a:ea typeface="Sarabun"/>
                <a:cs typeface="Sarabun"/>
                <a:sym typeface="Sarabun"/>
              </a:rPr>
              <a:t> </a:t>
            </a:r>
            <a:r>
              <a:rPr lang="en-US" sz="2500">
                <a:solidFill>
                  <a:srgbClr val="002566"/>
                </a:solidFill>
                <a:latin typeface="Sarabun"/>
                <a:ea typeface="Sarabun"/>
                <a:cs typeface="Sarabun"/>
                <a:sym typeface="Sarabun"/>
              </a:rPr>
              <a:t>We used feature branches for every different pattern and pull requests to ensure smooth integration into the main branch.</a:t>
            </a:r>
          </a:p>
        </p:txBody>
      </p:sp>
      <p:sp>
        <p:nvSpPr>
          <p:cNvPr id="12" name="TextBox 12"/>
          <p:cNvSpPr txBox="1"/>
          <p:nvPr/>
        </p:nvSpPr>
        <p:spPr>
          <a:xfrm>
            <a:off x="9737460" y="2465621"/>
            <a:ext cx="7122891" cy="1589402"/>
          </a:xfrm>
          <a:prstGeom prst="rect">
            <a:avLst/>
          </a:prstGeom>
        </p:spPr>
        <p:txBody>
          <a:bodyPr lIns="0" tIns="0" rIns="0" bIns="0" rtlCol="0" anchor="t">
            <a:spAutoFit/>
          </a:bodyPr>
          <a:lstStyle/>
          <a:p>
            <a:pPr algn="l">
              <a:lnSpc>
                <a:spcPts val="3220"/>
              </a:lnSpc>
            </a:pPr>
            <a:r>
              <a:rPr lang="en-US" sz="2300" b="1" u="sng">
                <a:solidFill>
                  <a:srgbClr val="FFFFFF"/>
                </a:solidFill>
                <a:latin typeface="Sarabun Bold"/>
                <a:ea typeface="Sarabun Bold"/>
                <a:cs typeface="Sarabun Bold"/>
                <a:sym typeface="Sarabun Bold"/>
              </a:rPr>
              <a:t>Commit History:</a:t>
            </a:r>
            <a:r>
              <a:rPr lang="en-US" sz="2300">
                <a:solidFill>
                  <a:srgbClr val="FFFFFF"/>
                </a:solidFill>
                <a:latin typeface="Sarabun"/>
                <a:ea typeface="Sarabun"/>
                <a:cs typeface="Sarabun"/>
                <a:sym typeface="Sarabun"/>
              </a:rPr>
              <a:t> We maintained a clear and consistent commit history with concise descriptions to track changes, debug issues and merge code updates incrementally.</a:t>
            </a:r>
          </a:p>
        </p:txBody>
      </p:sp>
      <p:sp>
        <p:nvSpPr>
          <p:cNvPr id="13" name="TextBox 13"/>
          <p:cNvSpPr txBox="1"/>
          <p:nvPr/>
        </p:nvSpPr>
        <p:spPr>
          <a:xfrm>
            <a:off x="9737460" y="5950793"/>
            <a:ext cx="7122891" cy="1589402"/>
          </a:xfrm>
          <a:prstGeom prst="rect">
            <a:avLst/>
          </a:prstGeom>
        </p:spPr>
        <p:txBody>
          <a:bodyPr lIns="0" tIns="0" rIns="0" bIns="0" rtlCol="0" anchor="t">
            <a:spAutoFit/>
          </a:bodyPr>
          <a:lstStyle/>
          <a:p>
            <a:pPr algn="l">
              <a:lnSpc>
                <a:spcPts val="3220"/>
              </a:lnSpc>
            </a:pPr>
            <a:r>
              <a:rPr lang="en-US" sz="2300" b="1" u="sng">
                <a:solidFill>
                  <a:srgbClr val="FFFFFF"/>
                </a:solidFill>
                <a:latin typeface="Sarabun Bold"/>
                <a:ea typeface="Sarabun Bold"/>
                <a:cs typeface="Sarabun Bold"/>
                <a:sym typeface="Sarabun Bold"/>
              </a:rPr>
              <a:t>Automated Documentation:</a:t>
            </a:r>
            <a:r>
              <a:rPr lang="en-US" sz="2300">
                <a:solidFill>
                  <a:srgbClr val="FFFFFF"/>
                </a:solidFill>
                <a:latin typeface="Sarabun"/>
                <a:ea typeface="Sarabun"/>
                <a:cs typeface="Sarabun"/>
                <a:sym typeface="Sarabun"/>
              </a:rPr>
              <a:t> Integrated Doxygen commenting syntax across all C++ headers and source files to automatically generate comprehensive class and architecture documentation.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1EC"/>
        </a:solidFill>
        <a:effectLst/>
      </p:bgPr>
    </p:bg>
    <p:spTree>
      <p:nvGrpSpPr>
        <p:cNvPr id="1" name=""/>
        <p:cNvGrpSpPr/>
        <p:nvPr/>
      </p:nvGrpSpPr>
      <p:grpSpPr>
        <a:xfrm>
          <a:off x="0" y="0"/>
          <a:ext cx="0" cy="0"/>
          <a:chOff x="0" y="0"/>
          <a:chExt cx="0" cy="0"/>
        </a:xfrm>
      </p:grpSpPr>
      <p:grpSp>
        <p:nvGrpSpPr>
          <p:cNvPr id="2" name="Group 2"/>
          <p:cNvGrpSpPr/>
          <p:nvPr/>
        </p:nvGrpSpPr>
        <p:grpSpPr>
          <a:xfrm>
            <a:off x="-864364" y="3492749"/>
            <a:ext cx="20296751" cy="7027964"/>
            <a:chOff x="0" y="0"/>
            <a:chExt cx="5345646" cy="1850986"/>
          </a:xfrm>
        </p:grpSpPr>
        <p:sp>
          <p:nvSpPr>
            <p:cNvPr id="3" name="Freeform 3"/>
            <p:cNvSpPr/>
            <p:nvPr/>
          </p:nvSpPr>
          <p:spPr>
            <a:xfrm>
              <a:off x="0" y="0"/>
              <a:ext cx="5345647" cy="1850986"/>
            </a:xfrm>
            <a:custGeom>
              <a:avLst/>
              <a:gdLst/>
              <a:ahLst/>
              <a:cxnLst/>
              <a:rect l="l" t="t" r="r" b="b"/>
              <a:pathLst>
                <a:path w="5345647" h="1850986">
                  <a:moveTo>
                    <a:pt x="19453" y="0"/>
                  </a:moveTo>
                  <a:lnTo>
                    <a:pt x="5326193" y="0"/>
                  </a:lnTo>
                  <a:cubicBezTo>
                    <a:pt x="5336937" y="0"/>
                    <a:pt x="5345647" y="8710"/>
                    <a:pt x="5345647" y="19453"/>
                  </a:cubicBezTo>
                  <a:lnTo>
                    <a:pt x="5345647" y="1831533"/>
                  </a:lnTo>
                  <a:cubicBezTo>
                    <a:pt x="5345647" y="1836693"/>
                    <a:pt x="5343597" y="1841640"/>
                    <a:pt x="5339949" y="1845289"/>
                  </a:cubicBezTo>
                  <a:cubicBezTo>
                    <a:pt x="5336301" y="1848937"/>
                    <a:pt x="5331352" y="1850986"/>
                    <a:pt x="5326193" y="1850986"/>
                  </a:cubicBezTo>
                  <a:lnTo>
                    <a:pt x="19453" y="1850986"/>
                  </a:lnTo>
                  <a:cubicBezTo>
                    <a:pt x="14294" y="1850986"/>
                    <a:pt x="9346" y="1848937"/>
                    <a:pt x="5698" y="1845289"/>
                  </a:cubicBezTo>
                  <a:cubicBezTo>
                    <a:pt x="2050" y="1841640"/>
                    <a:pt x="0" y="1836693"/>
                    <a:pt x="0" y="1831533"/>
                  </a:cubicBezTo>
                  <a:lnTo>
                    <a:pt x="0" y="19453"/>
                  </a:lnTo>
                  <a:cubicBezTo>
                    <a:pt x="0" y="14294"/>
                    <a:pt x="2050" y="9346"/>
                    <a:pt x="5698" y="5698"/>
                  </a:cubicBezTo>
                  <a:cubicBezTo>
                    <a:pt x="9346" y="2050"/>
                    <a:pt x="14294" y="0"/>
                    <a:pt x="19453" y="0"/>
                  </a:cubicBezTo>
                  <a:close/>
                </a:path>
              </a:pathLst>
            </a:custGeom>
            <a:solidFill>
              <a:srgbClr val="002566"/>
            </a:solidFill>
          </p:spPr>
          <p:txBody>
            <a:bodyPr/>
            <a:lstStyle/>
            <a:p>
              <a:endParaRPr lang="en-ZA"/>
            </a:p>
          </p:txBody>
        </p:sp>
        <p:sp>
          <p:nvSpPr>
            <p:cNvPr id="4" name="TextBox 4"/>
            <p:cNvSpPr txBox="1"/>
            <p:nvPr/>
          </p:nvSpPr>
          <p:spPr>
            <a:xfrm>
              <a:off x="0" y="-28575"/>
              <a:ext cx="5345646" cy="187956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2828235">
            <a:off x="1988809" y="1191404"/>
            <a:ext cx="1755120" cy="1755120"/>
          </a:xfrm>
          <a:custGeom>
            <a:avLst/>
            <a:gdLst/>
            <a:ahLst/>
            <a:cxnLst/>
            <a:rect l="l" t="t" r="r" b="b"/>
            <a:pathLst>
              <a:path w="1755120" h="1755120">
                <a:moveTo>
                  <a:pt x="0" y="0"/>
                </a:moveTo>
                <a:lnTo>
                  <a:pt x="1755121" y="0"/>
                </a:lnTo>
                <a:lnTo>
                  <a:pt x="1755121" y="1755120"/>
                </a:lnTo>
                <a:lnTo>
                  <a:pt x="0" y="175512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ZA"/>
          </a:p>
        </p:txBody>
      </p:sp>
      <p:sp>
        <p:nvSpPr>
          <p:cNvPr id="6" name="TextBox 6"/>
          <p:cNvSpPr txBox="1"/>
          <p:nvPr/>
        </p:nvSpPr>
        <p:spPr>
          <a:xfrm>
            <a:off x="1028700" y="4229411"/>
            <a:ext cx="16230600" cy="3489854"/>
          </a:xfrm>
          <a:prstGeom prst="rect">
            <a:avLst/>
          </a:prstGeom>
        </p:spPr>
        <p:txBody>
          <a:bodyPr lIns="0" tIns="0" rIns="0" bIns="0" rtlCol="0" anchor="t">
            <a:spAutoFit/>
          </a:bodyPr>
          <a:lstStyle/>
          <a:p>
            <a:pPr algn="just">
              <a:lnSpc>
                <a:spcPts val="3499"/>
              </a:lnSpc>
            </a:pPr>
            <a:r>
              <a:rPr lang="en-US" sz="2499">
                <a:solidFill>
                  <a:srgbClr val="FFFFFF"/>
                </a:solidFill>
                <a:latin typeface="Sarabun"/>
                <a:ea typeface="Sarabun"/>
                <a:cs typeface="Sarabun"/>
                <a:sym typeface="Sarabun"/>
              </a:rPr>
              <a:t>The TIVIDY project successfuly implemented a reusable workflow management system for defining, running and monitoring a generic workflow that can be used as a university enrolment system, a healthcare booking system etc. </a:t>
            </a:r>
          </a:p>
          <a:p>
            <a:pPr algn="just">
              <a:lnSpc>
                <a:spcPts val="3499"/>
              </a:lnSpc>
            </a:pPr>
            <a:r>
              <a:rPr lang="en-US" sz="2499">
                <a:solidFill>
                  <a:srgbClr val="FFFFFF"/>
                </a:solidFill>
                <a:latin typeface="Sarabun"/>
                <a:ea typeface="Sarabun"/>
                <a:cs typeface="Sarabun"/>
                <a:sym typeface="Sarabun"/>
              </a:rPr>
              <a:t>By applying design patterns such as State, Observer, Composite, Chain of Responsibility, Strategy and Command, we supported work item life cycles, role-based routing, multi-level approval and escalation, event-driven monitoring, undo and rollback.</a:t>
            </a:r>
          </a:p>
          <a:p>
            <a:pPr algn="just">
              <a:lnSpc>
                <a:spcPts val="3499"/>
              </a:lnSpc>
            </a:pPr>
            <a:r>
              <a:rPr lang="en-US" sz="2499">
                <a:solidFill>
                  <a:srgbClr val="FFFFFF"/>
                </a:solidFill>
                <a:latin typeface="Sarabun"/>
                <a:ea typeface="Sarabun"/>
                <a:cs typeface="Sarabun"/>
                <a:sym typeface="Sarabun"/>
              </a:rPr>
              <a:t>This project included UML diagrams, C++ 11 code and throurough documentation (that can be found in the README), fulfilling the technical goals required and preparing us for future projects to come.</a:t>
            </a:r>
          </a:p>
          <a:p>
            <a:pPr algn="just">
              <a:lnSpc>
                <a:spcPts val="3499"/>
              </a:lnSpc>
            </a:pPr>
            <a:endParaRPr lang="en-US" sz="2499">
              <a:solidFill>
                <a:srgbClr val="FFFFFF"/>
              </a:solidFill>
              <a:latin typeface="Sarabun"/>
              <a:ea typeface="Sarabun"/>
              <a:cs typeface="Sarabun"/>
              <a:sym typeface="Sarabun"/>
            </a:endParaRPr>
          </a:p>
        </p:txBody>
      </p:sp>
      <p:sp>
        <p:nvSpPr>
          <p:cNvPr id="7" name="TextBox 7"/>
          <p:cNvSpPr txBox="1"/>
          <p:nvPr/>
        </p:nvSpPr>
        <p:spPr>
          <a:xfrm>
            <a:off x="3901285" y="1607486"/>
            <a:ext cx="10485430" cy="872997"/>
          </a:xfrm>
          <a:prstGeom prst="rect">
            <a:avLst/>
          </a:prstGeom>
        </p:spPr>
        <p:txBody>
          <a:bodyPr lIns="0" tIns="0" rIns="0" bIns="0" rtlCol="0" anchor="t">
            <a:spAutoFit/>
          </a:bodyPr>
          <a:lstStyle/>
          <a:p>
            <a:pPr algn="ctr">
              <a:lnSpc>
                <a:spcPts val="6565"/>
              </a:lnSpc>
            </a:pPr>
            <a:r>
              <a:rPr lang="en-US" sz="6699" b="1">
                <a:solidFill>
                  <a:srgbClr val="002566"/>
                </a:solidFill>
                <a:latin typeface="Sarabun Bold"/>
                <a:ea typeface="Sarabun Bold"/>
                <a:cs typeface="Sarabun Bold"/>
                <a:sym typeface="Sarabun Bold"/>
              </a:rPr>
              <a:t>Conclusion</a:t>
            </a:r>
          </a:p>
        </p:txBody>
      </p:sp>
      <p:sp>
        <p:nvSpPr>
          <p:cNvPr id="8" name="Freeform 8"/>
          <p:cNvSpPr/>
          <p:nvPr/>
        </p:nvSpPr>
        <p:spPr>
          <a:xfrm rot="-2828235">
            <a:off x="15292327" y="8402958"/>
            <a:ext cx="1755120" cy="1755120"/>
          </a:xfrm>
          <a:custGeom>
            <a:avLst/>
            <a:gdLst/>
            <a:ahLst/>
            <a:cxnLst/>
            <a:rect l="l" t="t" r="r" b="b"/>
            <a:pathLst>
              <a:path w="1755120" h="1755120">
                <a:moveTo>
                  <a:pt x="0" y="0"/>
                </a:moveTo>
                <a:lnTo>
                  <a:pt x="1755121" y="0"/>
                </a:lnTo>
                <a:lnTo>
                  <a:pt x="1755121" y="1755121"/>
                </a:lnTo>
                <a:lnTo>
                  <a:pt x="0" y="17551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2105</Words>
  <Application>Microsoft Office PowerPoint</Application>
  <PresentationFormat>Custom</PresentationFormat>
  <Paragraphs>164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Canva Sans</vt:lpstr>
      <vt:lpstr>Arial</vt:lpstr>
      <vt:lpstr>Calibri</vt:lpstr>
      <vt:lpstr>Sarabun Bold</vt:lpstr>
      <vt:lpstr>Sarabun Italics</vt:lpstr>
      <vt:lpstr>Canva Sans Bold</vt:lpstr>
      <vt:lpstr>Sarabun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and White Modern Group Project Presentation</dc:title>
  <cp:lastModifiedBy>Logan van der Merwe</cp:lastModifiedBy>
  <cp:revision>2</cp:revision>
  <dcterms:created xsi:type="dcterms:W3CDTF">2006-08-16T00:00:00Z</dcterms:created>
  <dcterms:modified xsi:type="dcterms:W3CDTF">2026-11-01T22:11:33Z</dcterms:modified>
  <dc:identifier>DAHZZG-wqeE</dc:identifier>
</cp:coreProperties>
</file>